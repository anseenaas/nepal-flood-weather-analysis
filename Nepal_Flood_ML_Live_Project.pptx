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charts/chart6.xml" ContentType="application/vnd.openxmlformats-officedocument.drawingml.chart+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charts/chart8.xml" ContentType="application/vnd.openxmlformats-officedocument.drawingml.chart+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D17B248-662E-C07C-2A56-24CCFA7B19E3}">
          <p14:sldIdLst>
            <p14:sldId id="256"/>
            <p14:sldId id="257"/>
            <p14:sldId id="258"/>
          </p14:sldIdLst>
        </p14:section>
        <p14:section name="Exploration" id="{FC86571F-F1C8-F3C3-D6CE-03E4D181039F}">
          <p14:sldIdLst>
            <p14:sldId id="259"/>
            <p14:sldId id="260"/>
            <p14:sldId id="261"/>
            <p14:sldId id="262"/>
          </p14:sldIdLst>
        </p14:section>
        <p14:section name="Modelling" id="{5540E64A-41A6-540D-F971-468F41C2412F}">
          <p14:sldIdLst>
            <p14:sldId id="263"/>
            <p14:sldId id="264"/>
            <p14:sldId id="265"/>
            <p14:sldId id="266"/>
            <p14:sldId id="267"/>
            <p14:sldId id="268"/>
            <p14:sldId id="269"/>
          </p14:sldIdLst>
        </p14:section>
        <p14:section name="Wrap-up" id="{4E30F1D9-A2DE-A714-C605-BB7DFB3B89DF}">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33A"/>
                </a:solidFill>
                <a:latin typeface="+mn-lt"/>
              </a:defRPr>
            </a:pPr>
            <a:r>
              <a:rPr sz="1400" b="0" i="0" u="none" strike="noStrike">
                <a:solidFill>
                  <a:srgbClr val="13233A"/>
                </a:solidFill>
                <a:latin typeface="+mn-lt"/>
              </a:rPr>
              <a:t>Discharge: percentiles and mean (m³/s)</a:t>
            </a:r>
          </a:p>
        </c:rich>
      </c:tx>
      <c:overlay val="0"/>
    </c:title>
    <c:autoTitleDeleted val="0"/>
    <c:plotArea>
      <c:layout/>
      <c:barChart>
        <c:barDir val="col"/>
        <c:grouping val="clustered"/>
        <c:varyColors val="0"/>
        <c:ser>
          <c:idx val="0"/>
          <c:order val="0"/>
          <c:tx>
            <c:strRef>
              <c:f>Sheet1!$B$1</c:f>
              <c:strCache>
                <c:ptCount val="1"/>
                <c:pt idx="0">
                  <c:v>Discharge</c:v>
                </c:pt>
              </c:strCache>
            </c:strRef>
          </c:tx>
          <c:spPr>
            <a:solidFill>
              <a:srgbClr val="7FD1D6"/>
            </a:solidFill>
            <a:effectLst/>
          </c:spPr>
          <c:invertIfNegative val="0"/>
          <c:dPt>
            <c:idx val="0"/>
            <c:invertIfNegative val="0"/>
            <c:bubble3D val="0"/>
            <c:extLst>
              <c:ext xmlns:c16="http://schemas.microsoft.com/office/drawing/2014/chart" uri="{C3380CC4-5D6E-409C-BE32-E72D297353CC}">
                <c16:uniqueId val="{00000001-E5A5-4E93-A71F-A0417A8E9821}"/>
              </c:ext>
            </c:extLst>
          </c:dPt>
          <c:dPt>
            <c:idx val="1"/>
            <c:invertIfNegative val="0"/>
            <c:bubble3D val="0"/>
            <c:spPr>
              <a:solidFill>
                <a:srgbClr val="0E7C86"/>
              </a:solidFill>
              <a:effectLst/>
            </c:spPr>
            <c:extLst>
              <c:ext xmlns:c16="http://schemas.microsoft.com/office/drawing/2014/chart" uri="{C3380CC4-5D6E-409C-BE32-E72D297353CC}">
                <c16:uniqueId val="{00000003-E5A5-4E93-A71F-A0417A8E9821}"/>
              </c:ext>
            </c:extLst>
          </c:dPt>
          <c:dPt>
            <c:idx val="2"/>
            <c:invertIfNegative val="0"/>
            <c:bubble3D val="0"/>
            <c:spPr>
              <a:solidFill>
                <a:srgbClr val="2E86C1"/>
              </a:solidFill>
              <a:effectLst/>
            </c:spPr>
            <c:extLst>
              <c:ext xmlns:c16="http://schemas.microsoft.com/office/drawing/2014/chart" uri="{C3380CC4-5D6E-409C-BE32-E72D297353CC}">
                <c16:uniqueId val="{00000005-E5A5-4E93-A71F-A0417A8E9821}"/>
              </c:ext>
            </c:extLst>
          </c:dPt>
          <c:dPt>
            <c:idx val="3"/>
            <c:invertIfNegative val="0"/>
            <c:bubble3D val="0"/>
            <c:spPr>
              <a:solidFill>
                <a:srgbClr val="1B4F8A"/>
              </a:solidFill>
              <a:effectLst/>
            </c:spPr>
            <c:extLst>
              <c:ext xmlns:c16="http://schemas.microsoft.com/office/drawing/2014/chart" uri="{C3380CC4-5D6E-409C-BE32-E72D297353CC}">
                <c16:uniqueId val="{00000007-E5A5-4E93-A71F-A0417A8E9821}"/>
              </c:ext>
            </c:extLst>
          </c:dPt>
          <c:dLbls>
            <c:numFmt formatCode="0.00" sourceLinked="0"/>
            <c:spPr>
              <a:noFill/>
              <a:ln>
                <a:noFill/>
              </a:ln>
              <a:effectLst/>
            </c:spPr>
            <c:txPr>
              <a:bodyPr/>
              <a:lstStyle/>
              <a:p>
                <a:pPr>
                  <a:defRPr sz="11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25th percentile</c:v>
                </c:pt>
                <c:pt idx="1">
                  <c:v>Median</c:v>
                </c:pt>
                <c:pt idx="2">
                  <c:v>75th percentile</c:v>
                </c:pt>
                <c:pt idx="3">
                  <c:v>Mean</c:v>
                </c:pt>
              </c:strCache>
            </c:strRef>
          </c:cat>
          <c:val>
            <c:numRef>
              <c:f>Sheet1!$B$2:$B$5</c:f>
              <c:numCache>
                <c:formatCode>General</c:formatCode>
                <c:ptCount val="4"/>
                <c:pt idx="0">
                  <c:v>0.26</c:v>
                </c:pt>
                <c:pt idx="1">
                  <c:v>1.88</c:v>
                </c:pt>
                <c:pt idx="2">
                  <c:v>10.53</c:v>
                </c:pt>
                <c:pt idx="3">
                  <c:v>20.37</c:v>
                </c:pt>
              </c:numCache>
            </c:numRef>
          </c:val>
          <c:extLst>
            <c:ext xmlns:c16="http://schemas.microsoft.com/office/drawing/2014/chart" uri="{C3380CC4-5D6E-409C-BE32-E72D297353CC}">
              <c16:uniqueId val="{00000008-E5A5-4E93-A71F-A0417A8E982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56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E0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33A"/>
                </a:solidFill>
                <a:latin typeface="+mn-lt"/>
              </a:defRPr>
            </a:pPr>
            <a:r>
              <a:rPr sz="1400" b="0" i="0" u="none" strike="noStrike">
                <a:solidFill>
                  <a:srgbClr val="13233A"/>
                </a:solidFill>
                <a:latin typeface="+mn-lt"/>
              </a:rPr>
              <a:t>Average discharge by station (m³/s)</a:t>
            </a:r>
          </a:p>
        </c:rich>
      </c:tx>
      <c:overlay val="0"/>
    </c:title>
    <c:autoTitleDeleted val="0"/>
    <c:plotArea>
      <c:layout/>
      <c:barChart>
        <c:barDir val="bar"/>
        <c:grouping val="clustered"/>
        <c:varyColors val="0"/>
        <c:ser>
          <c:idx val="0"/>
          <c:order val="0"/>
          <c:tx>
            <c:strRef>
              <c:f>Sheet1!$B$1</c:f>
              <c:strCache>
                <c:ptCount val="1"/>
                <c:pt idx="0">
                  <c:v>Avg discharge</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1870-40F2-9FCA-F75FA752B6C0}"/>
              </c:ext>
            </c:extLst>
          </c:dPt>
          <c:dPt>
            <c:idx val="1"/>
            <c:invertIfNegative val="0"/>
            <c:bubble3D val="0"/>
            <c:extLst>
              <c:ext xmlns:c16="http://schemas.microsoft.com/office/drawing/2014/chart" uri="{C3380CC4-5D6E-409C-BE32-E72D297353CC}">
                <c16:uniqueId val="{00000003-1870-40F2-9FCA-F75FA752B6C0}"/>
              </c:ext>
            </c:extLst>
          </c:dPt>
          <c:dPt>
            <c:idx val="2"/>
            <c:invertIfNegative val="0"/>
            <c:bubble3D val="0"/>
            <c:extLst>
              <c:ext xmlns:c16="http://schemas.microsoft.com/office/drawing/2014/chart" uri="{C3380CC4-5D6E-409C-BE32-E72D297353CC}">
                <c16:uniqueId val="{00000005-1870-40F2-9FCA-F75FA752B6C0}"/>
              </c:ext>
            </c:extLst>
          </c:dPt>
          <c:dPt>
            <c:idx val="3"/>
            <c:invertIfNegative val="0"/>
            <c:bubble3D val="0"/>
            <c:extLst>
              <c:ext xmlns:c16="http://schemas.microsoft.com/office/drawing/2014/chart" uri="{C3380CC4-5D6E-409C-BE32-E72D297353CC}">
                <c16:uniqueId val="{00000007-1870-40F2-9FCA-F75FA752B6C0}"/>
              </c:ext>
            </c:extLst>
          </c:dPt>
          <c:dPt>
            <c:idx val="4"/>
            <c:invertIfNegative val="0"/>
            <c:bubble3D val="0"/>
            <c:extLst>
              <c:ext xmlns:c16="http://schemas.microsoft.com/office/drawing/2014/chart" uri="{C3380CC4-5D6E-409C-BE32-E72D297353CC}">
                <c16:uniqueId val="{00000009-1870-40F2-9FCA-F75FA752B6C0}"/>
              </c:ext>
            </c:extLst>
          </c:dPt>
          <c:dPt>
            <c:idx val="5"/>
            <c:invertIfNegative val="0"/>
            <c:bubble3D val="0"/>
            <c:extLst>
              <c:ext xmlns:c16="http://schemas.microsoft.com/office/drawing/2014/chart" uri="{C3380CC4-5D6E-409C-BE32-E72D297353CC}">
                <c16:uniqueId val="{0000000B-1870-40F2-9FCA-F75FA752B6C0}"/>
              </c:ext>
            </c:extLst>
          </c:dPt>
          <c:dPt>
            <c:idx val="6"/>
            <c:invertIfNegative val="0"/>
            <c:bubble3D val="0"/>
            <c:extLst>
              <c:ext xmlns:c16="http://schemas.microsoft.com/office/drawing/2014/chart" uri="{C3380CC4-5D6E-409C-BE32-E72D297353CC}">
                <c16:uniqueId val="{0000000D-1870-40F2-9FCA-F75FA752B6C0}"/>
              </c:ext>
            </c:extLst>
          </c:dPt>
          <c:dPt>
            <c:idx val="7"/>
            <c:invertIfNegative val="0"/>
            <c:bubble3D val="0"/>
            <c:extLst>
              <c:ext xmlns:c16="http://schemas.microsoft.com/office/drawing/2014/chart" uri="{C3380CC4-5D6E-409C-BE32-E72D297353CC}">
                <c16:uniqueId val="{0000000F-1870-40F2-9FCA-F75FA752B6C0}"/>
              </c:ext>
            </c:extLst>
          </c:dPt>
          <c:dPt>
            <c:idx val="8"/>
            <c:invertIfNegative val="0"/>
            <c:bubble3D val="0"/>
            <c:extLst>
              <c:ext xmlns:c16="http://schemas.microsoft.com/office/drawing/2014/chart" uri="{C3380CC4-5D6E-409C-BE32-E72D297353CC}">
                <c16:uniqueId val="{00000011-1870-40F2-9FCA-F75FA752B6C0}"/>
              </c:ext>
            </c:extLst>
          </c:dPt>
          <c:dPt>
            <c:idx val="9"/>
            <c:invertIfNegative val="0"/>
            <c:bubble3D val="0"/>
            <c:spPr>
              <a:solidFill>
                <a:srgbClr val="1B4F8A"/>
              </a:solidFill>
              <a:effectLst/>
            </c:spPr>
            <c:extLst>
              <c:ext xmlns:c16="http://schemas.microsoft.com/office/drawing/2014/chart" uri="{C3380CC4-5D6E-409C-BE32-E72D297353CC}">
                <c16:uniqueId val="{00000013-1870-40F2-9FCA-F75FA752B6C0}"/>
              </c:ext>
            </c:extLst>
          </c:dPt>
          <c:dLbls>
            <c:numFmt formatCode="0.00" sourceLinked="0"/>
            <c:spPr>
              <a:noFill/>
              <a:ln>
                <a:noFill/>
              </a:ln>
              <a:effectLst/>
            </c:spPr>
            <c:txPr>
              <a:bodyPr/>
              <a:lstStyle/>
              <a:p>
                <a:pPr>
                  <a:defRPr sz="11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Bhada Bridge</c:v>
                </c:pt>
                <c:pt idx="1">
                  <c:v>Chisapani</c:v>
                </c:pt>
                <c:pt idx="2">
                  <c:v>Rasuwagadhi</c:v>
                </c:pt>
                <c:pt idx="3">
                  <c:v>Chatara</c:v>
                </c:pt>
                <c:pt idx="4">
                  <c:v>Khokana</c:v>
                </c:pt>
                <c:pt idx="5">
                  <c:v>Devghat</c:v>
                </c:pt>
                <c:pt idx="6">
                  <c:v>Bahrabise</c:v>
                </c:pt>
                <c:pt idx="7">
                  <c:v>Chameliya/Nayalbadi</c:v>
                </c:pt>
                <c:pt idx="8">
                  <c:v>Belsot</c:v>
                </c:pt>
                <c:pt idx="9">
                  <c:v>Kusum</c:v>
                </c:pt>
              </c:strCache>
            </c:strRef>
          </c:cat>
          <c:val>
            <c:numRef>
              <c:f>Sheet1!$B$2:$B$11</c:f>
              <c:numCache>
                <c:formatCode>General</c:formatCode>
                <c:ptCount val="10"/>
                <c:pt idx="0">
                  <c:v>0.7</c:v>
                </c:pt>
                <c:pt idx="1">
                  <c:v>0.85</c:v>
                </c:pt>
                <c:pt idx="2">
                  <c:v>1.41</c:v>
                </c:pt>
                <c:pt idx="3">
                  <c:v>1.49</c:v>
                </c:pt>
                <c:pt idx="4">
                  <c:v>1.66</c:v>
                </c:pt>
                <c:pt idx="5">
                  <c:v>2.33</c:v>
                </c:pt>
                <c:pt idx="6">
                  <c:v>5.05</c:v>
                </c:pt>
                <c:pt idx="7">
                  <c:v>31.39</c:v>
                </c:pt>
                <c:pt idx="8">
                  <c:v>33.03</c:v>
                </c:pt>
                <c:pt idx="9">
                  <c:v>125.81</c:v>
                </c:pt>
              </c:numCache>
            </c:numRef>
          </c:val>
          <c:extLst>
            <c:ext xmlns:c16="http://schemas.microsoft.com/office/drawing/2014/chart" uri="{C3380CC4-5D6E-409C-BE32-E72D297353CC}">
              <c16:uniqueId val="{00000014-1870-40F2-9FCA-F75FA752B6C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556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5E0E8"/>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33A"/>
                </a:solidFill>
                <a:latin typeface="+mn-lt"/>
              </a:defRPr>
            </a:pPr>
            <a:r>
              <a:rPr sz="1400" b="0" i="0" u="none" strike="noStrike">
                <a:solidFill>
                  <a:srgbClr val="13233A"/>
                </a:solidFill>
                <a:latin typeface="+mn-lt"/>
              </a:rPr>
              <a:t>Average discharge by month, all stations and years (m³/s)</a:t>
            </a:r>
          </a:p>
        </c:rich>
      </c:tx>
      <c:overlay val="0"/>
    </c:title>
    <c:autoTitleDeleted val="0"/>
    <c:plotArea>
      <c:layout/>
      <c:barChart>
        <c:barDir val="col"/>
        <c:grouping val="clustered"/>
        <c:varyColors val="0"/>
        <c:ser>
          <c:idx val="0"/>
          <c:order val="0"/>
          <c:tx>
            <c:strRef>
              <c:f>Sheet1!$B$1</c:f>
              <c:strCache>
                <c:ptCount val="1"/>
                <c:pt idx="0">
                  <c:v>Avg discharge</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5019-4168-95E1-25E94B0C1A38}"/>
              </c:ext>
            </c:extLst>
          </c:dPt>
          <c:dPt>
            <c:idx val="1"/>
            <c:invertIfNegative val="0"/>
            <c:bubble3D val="0"/>
            <c:extLst>
              <c:ext xmlns:c16="http://schemas.microsoft.com/office/drawing/2014/chart" uri="{C3380CC4-5D6E-409C-BE32-E72D297353CC}">
                <c16:uniqueId val="{00000003-5019-4168-95E1-25E94B0C1A38}"/>
              </c:ext>
            </c:extLst>
          </c:dPt>
          <c:dPt>
            <c:idx val="2"/>
            <c:invertIfNegative val="0"/>
            <c:bubble3D val="0"/>
            <c:extLst>
              <c:ext xmlns:c16="http://schemas.microsoft.com/office/drawing/2014/chart" uri="{C3380CC4-5D6E-409C-BE32-E72D297353CC}">
                <c16:uniqueId val="{00000005-5019-4168-95E1-25E94B0C1A38}"/>
              </c:ext>
            </c:extLst>
          </c:dPt>
          <c:dPt>
            <c:idx val="3"/>
            <c:invertIfNegative val="0"/>
            <c:bubble3D val="0"/>
            <c:extLst>
              <c:ext xmlns:c16="http://schemas.microsoft.com/office/drawing/2014/chart" uri="{C3380CC4-5D6E-409C-BE32-E72D297353CC}">
                <c16:uniqueId val="{00000007-5019-4168-95E1-25E94B0C1A38}"/>
              </c:ext>
            </c:extLst>
          </c:dPt>
          <c:dPt>
            <c:idx val="4"/>
            <c:invertIfNegative val="0"/>
            <c:bubble3D val="0"/>
            <c:extLst>
              <c:ext xmlns:c16="http://schemas.microsoft.com/office/drawing/2014/chart" uri="{C3380CC4-5D6E-409C-BE32-E72D297353CC}">
                <c16:uniqueId val="{00000009-5019-4168-95E1-25E94B0C1A38}"/>
              </c:ext>
            </c:extLst>
          </c:dPt>
          <c:dPt>
            <c:idx val="5"/>
            <c:invertIfNegative val="0"/>
            <c:bubble3D val="0"/>
            <c:extLst>
              <c:ext xmlns:c16="http://schemas.microsoft.com/office/drawing/2014/chart" uri="{C3380CC4-5D6E-409C-BE32-E72D297353CC}">
                <c16:uniqueId val="{0000000B-5019-4168-95E1-25E94B0C1A38}"/>
              </c:ext>
            </c:extLst>
          </c:dPt>
          <c:dPt>
            <c:idx val="6"/>
            <c:invertIfNegative val="0"/>
            <c:bubble3D val="0"/>
            <c:spPr>
              <a:solidFill>
                <a:srgbClr val="1B4F8A"/>
              </a:solidFill>
              <a:effectLst/>
            </c:spPr>
            <c:extLst>
              <c:ext xmlns:c16="http://schemas.microsoft.com/office/drawing/2014/chart" uri="{C3380CC4-5D6E-409C-BE32-E72D297353CC}">
                <c16:uniqueId val="{0000000D-5019-4168-95E1-25E94B0C1A38}"/>
              </c:ext>
            </c:extLst>
          </c:dPt>
          <c:dPt>
            <c:idx val="7"/>
            <c:invertIfNegative val="0"/>
            <c:bubble3D val="0"/>
            <c:spPr>
              <a:solidFill>
                <a:srgbClr val="1B4F8A"/>
              </a:solidFill>
              <a:effectLst/>
            </c:spPr>
            <c:extLst>
              <c:ext xmlns:c16="http://schemas.microsoft.com/office/drawing/2014/chart" uri="{C3380CC4-5D6E-409C-BE32-E72D297353CC}">
                <c16:uniqueId val="{0000000F-5019-4168-95E1-25E94B0C1A38}"/>
              </c:ext>
            </c:extLst>
          </c:dPt>
          <c:dPt>
            <c:idx val="8"/>
            <c:invertIfNegative val="0"/>
            <c:bubble3D val="0"/>
            <c:spPr>
              <a:solidFill>
                <a:srgbClr val="1B4F8A"/>
              </a:solidFill>
              <a:effectLst/>
            </c:spPr>
            <c:extLst>
              <c:ext xmlns:c16="http://schemas.microsoft.com/office/drawing/2014/chart" uri="{C3380CC4-5D6E-409C-BE32-E72D297353CC}">
                <c16:uniqueId val="{00000011-5019-4168-95E1-25E94B0C1A38}"/>
              </c:ext>
            </c:extLst>
          </c:dPt>
          <c:dPt>
            <c:idx val="9"/>
            <c:invertIfNegative val="0"/>
            <c:bubble3D val="0"/>
            <c:extLst>
              <c:ext xmlns:c16="http://schemas.microsoft.com/office/drawing/2014/chart" uri="{C3380CC4-5D6E-409C-BE32-E72D297353CC}">
                <c16:uniqueId val="{00000013-5019-4168-95E1-25E94B0C1A38}"/>
              </c:ext>
            </c:extLst>
          </c:dPt>
          <c:dPt>
            <c:idx val="10"/>
            <c:invertIfNegative val="0"/>
            <c:bubble3D val="0"/>
            <c:extLst>
              <c:ext xmlns:c16="http://schemas.microsoft.com/office/drawing/2014/chart" uri="{C3380CC4-5D6E-409C-BE32-E72D297353CC}">
                <c16:uniqueId val="{00000015-5019-4168-95E1-25E94B0C1A38}"/>
              </c:ext>
            </c:extLst>
          </c:dPt>
          <c:dPt>
            <c:idx val="11"/>
            <c:invertIfNegative val="0"/>
            <c:bubble3D val="0"/>
            <c:extLst>
              <c:ext xmlns:c16="http://schemas.microsoft.com/office/drawing/2014/chart" uri="{C3380CC4-5D6E-409C-BE32-E72D297353CC}">
                <c16:uniqueId val="{00000017-5019-4168-95E1-25E94B0C1A38}"/>
              </c:ext>
            </c:extLst>
          </c:dPt>
          <c:dLbls>
            <c:numFmt formatCode="0.00" sourceLinked="0"/>
            <c:spPr>
              <a:noFill/>
              <a:ln>
                <a:noFill/>
              </a:ln>
              <a:effectLst/>
            </c:spPr>
            <c:txPr>
              <a:bodyPr/>
              <a:lstStyle/>
              <a:p>
                <a:pPr>
                  <a:defRPr sz="10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4.3099999999999996</c:v>
                </c:pt>
                <c:pt idx="1">
                  <c:v>3.8</c:v>
                </c:pt>
                <c:pt idx="2">
                  <c:v>3.53</c:v>
                </c:pt>
                <c:pt idx="3">
                  <c:v>3.2</c:v>
                </c:pt>
                <c:pt idx="4">
                  <c:v>3.25</c:v>
                </c:pt>
                <c:pt idx="5">
                  <c:v>6.31</c:v>
                </c:pt>
                <c:pt idx="6">
                  <c:v>53.72</c:v>
                </c:pt>
                <c:pt idx="7">
                  <c:v>72.459999999999994</c:v>
                </c:pt>
                <c:pt idx="8">
                  <c:v>52.97</c:v>
                </c:pt>
                <c:pt idx="9">
                  <c:v>28.61</c:v>
                </c:pt>
                <c:pt idx="10">
                  <c:v>8.74</c:v>
                </c:pt>
                <c:pt idx="11">
                  <c:v>5.05</c:v>
                </c:pt>
              </c:numCache>
            </c:numRef>
          </c:val>
          <c:extLst>
            <c:ext xmlns:c16="http://schemas.microsoft.com/office/drawing/2014/chart" uri="{C3380CC4-5D6E-409C-BE32-E72D297353CC}">
              <c16:uniqueId val="{00000018-5019-4168-95E1-25E94B0C1A38}"/>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56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E0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33A"/>
                </a:solidFill>
                <a:latin typeface="+mn-lt"/>
              </a:defRPr>
            </a:pPr>
            <a:r>
              <a:rPr sz="1400" b="0" i="0" u="none" strike="noStrike">
                <a:solidFill>
                  <a:srgbClr val="13233A"/>
                </a:solidFill>
                <a:latin typeface="+mn-lt"/>
              </a:rPr>
              <a:t>Correlation with same-day river discharge</a:t>
            </a:r>
          </a:p>
        </c:rich>
      </c:tx>
      <c:overlay val="0"/>
    </c:title>
    <c:autoTitleDeleted val="0"/>
    <c:plotArea>
      <c:layout/>
      <c:barChart>
        <c:barDir val="bar"/>
        <c:grouping val="clustered"/>
        <c:varyColors val="0"/>
        <c:ser>
          <c:idx val="0"/>
          <c:order val="0"/>
          <c:tx>
            <c:strRef>
              <c:f>Sheet1!$B$1</c:f>
              <c:strCache>
                <c:ptCount val="1"/>
                <c:pt idx="0">
                  <c:v>Correlation</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F758-4035-8572-5E8BC4916E2A}"/>
              </c:ext>
            </c:extLst>
          </c:dPt>
          <c:dPt>
            <c:idx val="1"/>
            <c:invertIfNegative val="0"/>
            <c:bubble3D val="0"/>
            <c:extLst>
              <c:ext xmlns:c16="http://schemas.microsoft.com/office/drawing/2014/chart" uri="{C3380CC4-5D6E-409C-BE32-E72D297353CC}">
                <c16:uniqueId val="{00000003-F758-4035-8572-5E8BC4916E2A}"/>
              </c:ext>
            </c:extLst>
          </c:dPt>
          <c:dPt>
            <c:idx val="2"/>
            <c:invertIfNegative val="0"/>
            <c:bubble3D val="0"/>
            <c:extLst>
              <c:ext xmlns:c16="http://schemas.microsoft.com/office/drawing/2014/chart" uri="{C3380CC4-5D6E-409C-BE32-E72D297353CC}">
                <c16:uniqueId val="{00000005-F758-4035-8572-5E8BC4916E2A}"/>
              </c:ext>
            </c:extLst>
          </c:dPt>
          <c:dPt>
            <c:idx val="3"/>
            <c:invertIfNegative val="0"/>
            <c:bubble3D val="0"/>
            <c:extLst>
              <c:ext xmlns:c16="http://schemas.microsoft.com/office/drawing/2014/chart" uri="{C3380CC4-5D6E-409C-BE32-E72D297353CC}">
                <c16:uniqueId val="{00000007-F758-4035-8572-5E8BC4916E2A}"/>
              </c:ext>
            </c:extLst>
          </c:dPt>
          <c:dPt>
            <c:idx val="4"/>
            <c:invertIfNegative val="0"/>
            <c:bubble3D val="0"/>
            <c:extLst>
              <c:ext xmlns:c16="http://schemas.microsoft.com/office/drawing/2014/chart" uri="{C3380CC4-5D6E-409C-BE32-E72D297353CC}">
                <c16:uniqueId val="{00000009-F758-4035-8572-5E8BC4916E2A}"/>
              </c:ext>
            </c:extLst>
          </c:dPt>
          <c:dPt>
            <c:idx val="5"/>
            <c:invertIfNegative val="0"/>
            <c:bubble3D val="0"/>
            <c:extLst>
              <c:ext xmlns:c16="http://schemas.microsoft.com/office/drawing/2014/chart" uri="{C3380CC4-5D6E-409C-BE32-E72D297353CC}">
                <c16:uniqueId val="{0000000B-F758-4035-8572-5E8BC4916E2A}"/>
              </c:ext>
            </c:extLst>
          </c:dPt>
          <c:dPt>
            <c:idx val="6"/>
            <c:invertIfNegative val="0"/>
            <c:bubble3D val="0"/>
            <c:spPr>
              <a:solidFill>
                <a:srgbClr val="1B4F8A"/>
              </a:solidFill>
              <a:effectLst/>
            </c:spPr>
            <c:extLst>
              <c:ext xmlns:c16="http://schemas.microsoft.com/office/drawing/2014/chart" uri="{C3380CC4-5D6E-409C-BE32-E72D297353CC}">
                <c16:uniqueId val="{0000000D-F758-4035-8572-5E8BC4916E2A}"/>
              </c:ext>
            </c:extLst>
          </c:dPt>
          <c:dLbls>
            <c:numFmt formatCode="0.000" sourceLinked="0"/>
            <c:spPr>
              <a:noFill/>
              <a:ln>
                <a:noFill/>
              </a:ln>
              <a:effectLst/>
            </c:spPr>
            <c:txPr>
              <a:bodyPr/>
              <a:lstStyle/>
              <a:p>
                <a:pPr>
                  <a:defRPr sz="11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Wind gusts (max)</c:v>
                </c:pt>
                <c:pt idx="1">
                  <c:v>Wind speed (max)</c:v>
                </c:pt>
                <c:pt idx="2">
                  <c:v>Precipitation</c:v>
                </c:pt>
                <c:pt idx="3">
                  <c:v>Rain</c:v>
                </c:pt>
                <c:pt idx="4">
                  <c:v>Humidity</c:v>
                </c:pt>
                <c:pt idx="5">
                  <c:v>Temperature</c:v>
                </c:pt>
                <c:pt idx="6">
                  <c:v>Dew point</c:v>
                </c:pt>
              </c:strCache>
            </c:strRef>
          </c:cat>
          <c:val>
            <c:numRef>
              <c:f>Sheet1!$B$2:$B$8</c:f>
              <c:numCache>
                <c:formatCode>General</c:formatCode>
                <c:ptCount val="7"/>
                <c:pt idx="0">
                  <c:v>-9.4999999999999998E-3</c:v>
                </c:pt>
                <c:pt idx="1">
                  <c:v>5.16E-2</c:v>
                </c:pt>
                <c:pt idx="2">
                  <c:v>9.8599999999999993E-2</c:v>
                </c:pt>
                <c:pt idx="3">
                  <c:v>9.9699999999999997E-2</c:v>
                </c:pt>
                <c:pt idx="4">
                  <c:v>0.17169999999999999</c:v>
                </c:pt>
                <c:pt idx="5">
                  <c:v>0.17849999999999999</c:v>
                </c:pt>
                <c:pt idx="6">
                  <c:v>0.2263</c:v>
                </c:pt>
              </c:numCache>
            </c:numRef>
          </c:val>
          <c:extLst>
            <c:ext xmlns:c16="http://schemas.microsoft.com/office/drawing/2014/chart" uri="{C3380CC4-5D6E-409C-BE32-E72D297353CC}">
              <c16:uniqueId val="{0000000E-F758-4035-8572-5E8BC4916E2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56B"/>
                </a:solidFill>
                <a:latin typeface="+mn-lt"/>
              </a:defRPr>
            </a:pPr>
            <a:endParaRPr lang="en-US"/>
          </a:p>
        </c:txPr>
        <c:crossAx val="2094734552"/>
        <c:crosses val="autoZero"/>
        <c:auto val="1"/>
        <c:lblAlgn val="ctr"/>
        <c:lblOffset val="100"/>
        <c:noMultiLvlLbl val="1"/>
      </c:catAx>
      <c:valAx>
        <c:axId val="2094734552"/>
        <c:scaling>
          <c:orientation val="minMax"/>
          <c:max val="0.3"/>
          <c:min val="-0.1"/>
        </c:scaling>
        <c:delete val="0"/>
        <c:axPos val="b"/>
        <c:majorGridlines>
          <c:spPr>
            <a:ln w="6350" cap="flat">
              <a:solidFill>
                <a:srgbClr val="D5E0E8"/>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33A"/>
                </a:solidFill>
                <a:latin typeface="+mn-lt"/>
              </a:defRPr>
            </a:pPr>
            <a:r>
              <a:rPr sz="1400" b="0" i="0" u="none" strike="noStrike">
                <a:solidFill>
                  <a:srgbClr val="13233A"/>
                </a:solidFill>
                <a:latin typeface="+mn-lt"/>
              </a:rPr>
              <a:t>Linear Regression: MAE by station code (m³/s)</a:t>
            </a:r>
          </a:p>
        </c:rich>
      </c:tx>
      <c:overlay val="0"/>
    </c:title>
    <c:autoTitleDeleted val="0"/>
    <c:plotArea>
      <c:layout/>
      <c:barChart>
        <c:barDir val="col"/>
        <c:grouping val="clustered"/>
        <c:varyColors val="0"/>
        <c:ser>
          <c:idx val="0"/>
          <c:order val="0"/>
          <c:tx>
            <c:strRef>
              <c:f>Sheet1!$B$1</c:f>
              <c:strCache>
                <c:ptCount val="1"/>
                <c:pt idx="0">
                  <c:v>MAE</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DADA-4DF8-ABDE-C32B7A5C97A2}"/>
              </c:ext>
            </c:extLst>
          </c:dPt>
          <c:dPt>
            <c:idx val="1"/>
            <c:invertIfNegative val="0"/>
            <c:bubble3D val="0"/>
            <c:extLst>
              <c:ext xmlns:c16="http://schemas.microsoft.com/office/drawing/2014/chart" uri="{C3380CC4-5D6E-409C-BE32-E72D297353CC}">
                <c16:uniqueId val="{00000003-DADA-4DF8-ABDE-C32B7A5C97A2}"/>
              </c:ext>
            </c:extLst>
          </c:dPt>
          <c:dPt>
            <c:idx val="2"/>
            <c:invertIfNegative val="0"/>
            <c:bubble3D val="0"/>
            <c:extLst>
              <c:ext xmlns:c16="http://schemas.microsoft.com/office/drawing/2014/chart" uri="{C3380CC4-5D6E-409C-BE32-E72D297353CC}">
                <c16:uniqueId val="{00000005-DADA-4DF8-ABDE-C32B7A5C97A2}"/>
              </c:ext>
            </c:extLst>
          </c:dPt>
          <c:dPt>
            <c:idx val="3"/>
            <c:invertIfNegative val="0"/>
            <c:bubble3D val="0"/>
            <c:extLst>
              <c:ext xmlns:c16="http://schemas.microsoft.com/office/drawing/2014/chart" uri="{C3380CC4-5D6E-409C-BE32-E72D297353CC}">
                <c16:uniqueId val="{00000007-DADA-4DF8-ABDE-C32B7A5C97A2}"/>
              </c:ext>
            </c:extLst>
          </c:dPt>
          <c:dPt>
            <c:idx val="4"/>
            <c:invertIfNegative val="0"/>
            <c:bubble3D val="0"/>
            <c:extLst>
              <c:ext xmlns:c16="http://schemas.microsoft.com/office/drawing/2014/chart" uri="{C3380CC4-5D6E-409C-BE32-E72D297353CC}">
                <c16:uniqueId val="{00000009-DADA-4DF8-ABDE-C32B7A5C97A2}"/>
              </c:ext>
            </c:extLst>
          </c:dPt>
          <c:dPt>
            <c:idx val="5"/>
            <c:invertIfNegative val="0"/>
            <c:bubble3D val="0"/>
            <c:extLst>
              <c:ext xmlns:c16="http://schemas.microsoft.com/office/drawing/2014/chart" uri="{C3380CC4-5D6E-409C-BE32-E72D297353CC}">
                <c16:uniqueId val="{0000000B-DADA-4DF8-ABDE-C32B7A5C97A2}"/>
              </c:ext>
            </c:extLst>
          </c:dPt>
          <c:dPt>
            <c:idx val="6"/>
            <c:invertIfNegative val="0"/>
            <c:bubble3D val="0"/>
            <c:extLst>
              <c:ext xmlns:c16="http://schemas.microsoft.com/office/drawing/2014/chart" uri="{C3380CC4-5D6E-409C-BE32-E72D297353CC}">
                <c16:uniqueId val="{0000000D-DADA-4DF8-ABDE-C32B7A5C97A2}"/>
              </c:ext>
            </c:extLst>
          </c:dPt>
          <c:dPt>
            <c:idx val="7"/>
            <c:invertIfNegative val="0"/>
            <c:bubble3D val="0"/>
            <c:extLst>
              <c:ext xmlns:c16="http://schemas.microsoft.com/office/drawing/2014/chart" uri="{C3380CC4-5D6E-409C-BE32-E72D297353CC}">
                <c16:uniqueId val="{0000000F-DADA-4DF8-ABDE-C32B7A5C97A2}"/>
              </c:ext>
            </c:extLst>
          </c:dPt>
          <c:dPt>
            <c:idx val="8"/>
            <c:invertIfNegative val="0"/>
            <c:bubble3D val="0"/>
            <c:extLst>
              <c:ext xmlns:c16="http://schemas.microsoft.com/office/drawing/2014/chart" uri="{C3380CC4-5D6E-409C-BE32-E72D297353CC}">
                <c16:uniqueId val="{00000011-DADA-4DF8-ABDE-C32B7A5C97A2}"/>
              </c:ext>
            </c:extLst>
          </c:dPt>
          <c:dPt>
            <c:idx val="9"/>
            <c:invertIfNegative val="0"/>
            <c:bubble3D val="0"/>
            <c:spPr>
              <a:solidFill>
                <a:srgbClr val="1B4F8A"/>
              </a:solidFill>
              <a:effectLst/>
            </c:spPr>
            <c:extLst>
              <c:ext xmlns:c16="http://schemas.microsoft.com/office/drawing/2014/chart" uri="{C3380CC4-5D6E-409C-BE32-E72D297353CC}">
                <c16:uniqueId val="{00000013-DADA-4DF8-ABDE-C32B7A5C97A2}"/>
              </c:ext>
            </c:extLst>
          </c:dPt>
          <c:dLbls>
            <c:numFmt formatCode="0.00" sourceLinked="0"/>
            <c:spPr>
              <a:noFill/>
              <a:ln>
                <a:noFill/>
              </a:ln>
              <a:effectLst/>
            </c:spPr>
            <c:txPr>
              <a:bodyPr/>
              <a:lstStyle/>
              <a:p>
                <a:pPr>
                  <a:defRPr sz="10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446.22</c:v>
                </c:pt>
                <c:pt idx="1">
                  <c:v>120</c:v>
                </c:pt>
                <c:pt idx="2">
                  <c:v>610</c:v>
                </c:pt>
                <c:pt idx="3">
                  <c:v>291</c:v>
                </c:pt>
                <c:pt idx="4">
                  <c:v>550.05</c:v>
                </c:pt>
                <c:pt idx="5">
                  <c:v>280</c:v>
                </c:pt>
                <c:pt idx="6">
                  <c:v>595.5</c:v>
                </c:pt>
                <c:pt idx="7">
                  <c:v>450</c:v>
                </c:pt>
                <c:pt idx="8">
                  <c:v>695</c:v>
                </c:pt>
                <c:pt idx="9">
                  <c:v>375</c:v>
                </c:pt>
              </c:strCache>
            </c:strRef>
          </c:cat>
          <c:val>
            <c:numRef>
              <c:f>Sheet1!$B$2:$B$11</c:f>
              <c:numCache>
                <c:formatCode>General</c:formatCode>
                <c:ptCount val="10"/>
                <c:pt idx="0">
                  <c:v>2.99</c:v>
                </c:pt>
                <c:pt idx="1">
                  <c:v>3.37</c:v>
                </c:pt>
                <c:pt idx="2">
                  <c:v>3.66</c:v>
                </c:pt>
                <c:pt idx="3">
                  <c:v>4.0999999999999996</c:v>
                </c:pt>
                <c:pt idx="4">
                  <c:v>4.1900000000000004</c:v>
                </c:pt>
                <c:pt idx="5">
                  <c:v>4.34</c:v>
                </c:pt>
                <c:pt idx="6">
                  <c:v>4.55</c:v>
                </c:pt>
                <c:pt idx="7">
                  <c:v>5.0599999999999996</c:v>
                </c:pt>
                <c:pt idx="8">
                  <c:v>5.15</c:v>
                </c:pt>
                <c:pt idx="9">
                  <c:v>29.15</c:v>
                </c:pt>
              </c:numCache>
            </c:numRef>
          </c:val>
          <c:extLst>
            <c:ext xmlns:c16="http://schemas.microsoft.com/office/drawing/2014/chart" uri="{C3380CC4-5D6E-409C-BE32-E72D297353CC}">
              <c16:uniqueId val="{00000014-DADA-4DF8-ABDE-C32B7A5C97A2}"/>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5E0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33A"/>
                </a:solidFill>
                <a:latin typeface="+mn-lt"/>
              </a:defRPr>
            </a:pPr>
            <a:r>
              <a:rPr sz="1400" b="0" i="0" u="none" strike="noStrike">
                <a:solidFill>
                  <a:srgbClr val="13233A"/>
                </a:solidFill>
                <a:latin typeface="+mn-lt"/>
              </a:rPr>
              <a:t>Permutation importance, Linear Regression (top 8)</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B79A-41BC-B7B1-4FF1F7FB0788}"/>
              </c:ext>
            </c:extLst>
          </c:dPt>
          <c:dPt>
            <c:idx val="1"/>
            <c:invertIfNegative val="0"/>
            <c:bubble3D val="0"/>
            <c:extLst>
              <c:ext xmlns:c16="http://schemas.microsoft.com/office/drawing/2014/chart" uri="{C3380CC4-5D6E-409C-BE32-E72D297353CC}">
                <c16:uniqueId val="{00000003-B79A-41BC-B7B1-4FF1F7FB0788}"/>
              </c:ext>
            </c:extLst>
          </c:dPt>
          <c:dPt>
            <c:idx val="2"/>
            <c:invertIfNegative val="0"/>
            <c:bubble3D val="0"/>
            <c:extLst>
              <c:ext xmlns:c16="http://schemas.microsoft.com/office/drawing/2014/chart" uri="{C3380CC4-5D6E-409C-BE32-E72D297353CC}">
                <c16:uniqueId val="{00000005-B79A-41BC-B7B1-4FF1F7FB0788}"/>
              </c:ext>
            </c:extLst>
          </c:dPt>
          <c:dPt>
            <c:idx val="3"/>
            <c:invertIfNegative val="0"/>
            <c:bubble3D val="0"/>
            <c:extLst>
              <c:ext xmlns:c16="http://schemas.microsoft.com/office/drawing/2014/chart" uri="{C3380CC4-5D6E-409C-BE32-E72D297353CC}">
                <c16:uniqueId val="{00000007-B79A-41BC-B7B1-4FF1F7FB0788}"/>
              </c:ext>
            </c:extLst>
          </c:dPt>
          <c:dPt>
            <c:idx val="4"/>
            <c:invertIfNegative val="0"/>
            <c:bubble3D val="0"/>
            <c:extLst>
              <c:ext xmlns:c16="http://schemas.microsoft.com/office/drawing/2014/chart" uri="{C3380CC4-5D6E-409C-BE32-E72D297353CC}">
                <c16:uniqueId val="{00000009-B79A-41BC-B7B1-4FF1F7FB0788}"/>
              </c:ext>
            </c:extLst>
          </c:dPt>
          <c:dPt>
            <c:idx val="5"/>
            <c:invertIfNegative val="0"/>
            <c:bubble3D val="0"/>
            <c:spPr>
              <a:solidFill>
                <a:srgbClr val="1B4F8A"/>
              </a:solidFill>
              <a:effectLst/>
            </c:spPr>
            <c:extLst>
              <c:ext xmlns:c16="http://schemas.microsoft.com/office/drawing/2014/chart" uri="{C3380CC4-5D6E-409C-BE32-E72D297353CC}">
                <c16:uniqueId val="{0000000B-B79A-41BC-B7B1-4FF1F7FB0788}"/>
              </c:ext>
            </c:extLst>
          </c:dPt>
          <c:dPt>
            <c:idx val="6"/>
            <c:invertIfNegative val="0"/>
            <c:bubble3D val="0"/>
            <c:spPr>
              <a:solidFill>
                <a:srgbClr val="1B4F8A"/>
              </a:solidFill>
              <a:effectLst/>
            </c:spPr>
            <c:extLst>
              <c:ext xmlns:c16="http://schemas.microsoft.com/office/drawing/2014/chart" uri="{C3380CC4-5D6E-409C-BE32-E72D297353CC}">
                <c16:uniqueId val="{0000000D-B79A-41BC-B7B1-4FF1F7FB0788}"/>
              </c:ext>
            </c:extLst>
          </c:dPt>
          <c:dPt>
            <c:idx val="7"/>
            <c:invertIfNegative val="0"/>
            <c:bubble3D val="0"/>
            <c:spPr>
              <a:solidFill>
                <a:srgbClr val="1B4F8A"/>
              </a:solidFill>
              <a:effectLst/>
            </c:spPr>
            <c:extLst>
              <c:ext xmlns:c16="http://schemas.microsoft.com/office/drawing/2014/chart" uri="{C3380CC4-5D6E-409C-BE32-E72D297353CC}">
                <c16:uniqueId val="{0000000F-B79A-41BC-B7B1-4FF1F7FB0788}"/>
              </c:ext>
            </c:extLst>
          </c:dPt>
          <c:dLbls>
            <c:numFmt formatCode="0.0000" sourceLinked="0"/>
            <c:spPr>
              <a:noFill/>
              <a:ln>
                <a:noFill/>
              </a:ln>
              <a:effectLst/>
            </c:spPr>
            <c:txPr>
              <a:bodyPr/>
              <a:lstStyle/>
              <a:p>
                <a:pPr>
                  <a:defRPr sz="11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Precipitation</c:v>
                </c:pt>
                <c:pt idx="1">
                  <c:v>Rain</c:v>
                </c:pt>
                <c:pt idx="2">
                  <c:v>3-day rolling rain</c:v>
                </c:pt>
                <c:pt idx="3">
                  <c:v>Station code</c:v>
                </c:pt>
                <c:pt idx="4">
                  <c:v>Longitude</c:v>
                </c:pt>
                <c:pt idx="5">
                  <c:v>Discharge (2 days earlier)</c:v>
                </c:pt>
                <c:pt idx="6">
                  <c:v>Discharge (1 day earlier)</c:v>
                </c:pt>
                <c:pt idx="7">
                  <c:v>Discharge (current day)</c:v>
                </c:pt>
              </c:strCache>
            </c:strRef>
          </c:cat>
          <c:val>
            <c:numRef>
              <c:f>Sheet1!$B$2:$B$9</c:f>
              <c:numCache>
                <c:formatCode>General</c:formatCode>
                <c:ptCount val="8"/>
                <c:pt idx="0">
                  <c:v>2.18E-2</c:v>
                </c:pt>
                <c:pt idx="1">
                  <c:v>2.98E-2</c:v>
                </c:pt>
                <c:pt idx="2">
                  <c:v>3.1899999999999998E-2</c:v>
                </c:pt>
                <c:pt idx="3">
                  <c:v>3.78E-2</c:v>
                </c:pt>
                <c:pt idx="4">
                  <c:v>4.1700000000000001E-2</c:v>
                </c:pt>
                <c:pt idx="5">
                  <c:v>0.20250000000000001</c:v>
                </c:pt>
                <c:pt idx="6">
                  <c:v>0.34960000000000002</c:v>
                </c:pt>
                <c:pt idx="7">
                  <c:v>2.2290000000000001</c:v>
                </c:pt>
              </c:numCache>
            </c:numRef>
          </c:val>
          <c:extLst>
            <c:ext xmlns:c16="http://schemas.microsoft.com/office/drawing/2014/chart" uri="{C3380CC4-5D6E-409C-BE32-E72D297353CC}">
              <c16:uniqueId val="{00000010-B79A-41BC-B7B1-4FF1F7FB078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556B"/>
                </a:solidFill>
                <a:latin typeface="+mn-lt"/>
              </a:defRPr>
            </a:pPr>
            <a:endParaRPr lang="en-US"/>
          </a:p>
        </c:txPr>
        <c:crossAx val="2094734552"/>
        <c:crosses val="autoZero"/>
        <c:auto val="1"/>
        <c:lblAlgn val="ctr"/>
        <c:lblOffset val="100"/>
        <c:noMultiLvlLbl val="1"/>
      </c:catAx>
      <c:valAx>
        <c:axId val="2094734552"/>
        <c:scaling>
          <c:orientation val="minMax"/>
          <c:max val="2.5"/>
          <c:min val="0"/>
        </c:scaling>
        <c:delete val="0"/>
        <c:axPos val="b"/>
        <c:majorGridlines>
          <c:spPr>
            <a:ln w="6350" cap="flat">
              <a:solidFill>
                <a:srgbClr val="D5E0E8"/>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4"/>
        <c:crosses val="autoZero"/>
        <c:crossBetween val="between"/>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33A"/>
                </a:solidFill>
                <a:latin typeface="+mn-lt"/>
              </a:defRPr>
            </a:pPr>
            <a:r>
              <a:rPr sz="1400" b="0" i="0" u="none" strike="noStrike">
                <a:solidFill>
                  <a:srgbClr val="13233A"/>
                </a:solidFill>
                <a:latin typeface="+mn-lt"/>
              </a:rPr>
              <a:t>Test-set metrics for high-flow classification (%)</a:t>
            </a:r>
          </a:p>
        </c:rich>
      </c:tx>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7FD1D6"/>
            </a:solidFill>
            <a:effectLst/>
          </c:spPr>
          <c:invertIfNegative val="0"/>
          <c:dLbls>
            <c:numFmt formatCode="0.00" sourceLinked="0"/>
            <c:spPr>
              <a:noFill/>
              <a:ln>
                <a:noFill/>
              </a:ln>
              <a:effectLst/>
            </c:spPr>
            <c:txPr>
              <a:bodyPr/>
              <a:lstStyle/>
              <a:p>
                <a:pPr>
                  <a:defRPr sz="9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F1-score</c:v>
                </c:pt>
              </c:strCache>
            </c:strRef>
          </c:cat>
          <c:val>
            <c:numRef>
              <c:f>Sheet1!$B$2:$B$5</c:f>
              <c:numCache>
                <c:formatCode>General</c:formatCode>
                <c:ptCount val="4"/>
                <c:pt idx="0">
                  <c:v>84.4</c:v>
                </c:pt>
                <c:pt idx="1">
                  <c:v>29.15</c:v>
                </c:pt>
                <c:pt idx="2">
                  <c:v>100</c:v>
                </c:pt>
                <c:pt idx="3">
                  <c:v>45.14</c:v>
                </c:pt>
              </c:numCache>
            </c:numRef>
          </c:val>
          <c:extLst>
            <c:ext xmlns:c16="http://schemas.microsoft.com/office/drawing/2014/chart" uri="{C3380CC4-5D6E-409C-BE32-E72D297353CC}">
              <c16:uniqueId val="{00000000-D2F6-45AF-BC6D-0D1B26EB62A1}"/>
            </c:ext>
          </c:extLst>
        </c:ser>
        <c:ser>
          <c:idx val="1"/>
          <c:order val="1"/>
          <c:tx>
            <c:strRef>
              <c:f>Sheet1!$C$1</c:f>
              <c:strCache>
                <c:ptCount val="1"/>
                <c:pt idx="0">
                  <c:v>Decision Tree</c:v>
                </c:pt>
              </c:strCache>
            </c:strRef>
          </c:tx>
          <c:spPr>
            <a:solidFill>
              <a:srgbClr val="2E86C1"/>
            </a:solidFill>
            <a:effectLst/>
          </c:spPr>
          <c:invertIfNegative val="0"/>
          <c:dLbls>
            <c:numFmt formatCode="0.00" sourceLinked="0"/>
            <c:spPr>
              <a:noFill/>
              <a:ln>
                <a:noFill/>
              </a:ln>
              <a:effectLst/>
            </c:spPr>
            <c:txPr>
              <a:bodyPr/>
              <a:lstStyle/>
              <a:p>
                <a:pPr>
                  <a:defRPr sz="9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F1-score</c:v>
                </c:pt>
              </c:strCache>
            </c:strRef>
          </c:cat>
          <c:val>
            <c:numRef>
              <c:f>Sheet1!$C$2:$C$5</c:f>
              <c:numCache>
                <c:formatCode>General</c:formatCode>
                <c:ptCount val="4"/>
                <c:pt idx="0">
                  <c:v>92.65</c:v>
                </c:pt>
                <c:pt idx="1">
                  <c:v>44.86</c:v>
                </c:pt>
                <c:pt idx="2">
                  <c:v>63.37</c:v>
                </c:pt>
                <c:pt idx="3">
                  <c:v>52.53</c:v>
                </c:pt>
              </c:numCache>
            </c:numRef>
          </c:val>
          <c:extLst>
            <c:ext xmlns:c16="http://schemas.microsoft.com/office/drawing/2014/chart" uri="{C3380CC4-5D6E-409C-BE32-E72D297353CC}">
              <c16:uniqueId val="{00000001-D2F6-45AF-BC6D-0D1B26EB62A1}"/>
            </c:ext>
          </c:extLst>
        </c:ser>
        <c:ser>
          <c:idx val="2"/>
          <c:order val="2"/>
          <c:tx>
            <c:strRef>
              <c:f>Sheet1!$D$1</c:f>
              <c:strCache>
                <c:ptCount val="1"/>
                <c:pt idx="0">
                  <c:v>Random Forest</c:v>
                </c:pt>
              </c:strCache>
            </c:strRef>
          </c:tx>
          <c:spPr>
            <a:solidFill>
              <a:srgbClr val="1B4F8A"/>
            </a:solidFill>
            <a:effectLst/>
          </c:spPr>
          <c:invertIfNegative val="0"/>
          <c:dLbls>
            <c:numFmt formatCode="0.00" sourceLinked="0"/>
            <c:spPr>
              <a:noFill/>
              <a:ln>
                <a:noFill/>
              </a:ln>
              <a:effectLst/>
            </c:spPr>
            <c:txPr>
              <a:bodyPr/>
              <a:lstStyle/>
              <a:p>
                <a:pPr>
                  <a:defRPr sz="9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Accuracy</c:v>
                </c:pt>
                <c:pt idx="1">
                  <c:v>Precision</c:v>
                </c:pt>
                <c:pt idx="2">
                  <c:v>Recall</c:v>
                </c:pt>
                <c:pt idx="3">
                  <c:v>F1-score</c:v>
                </c:pt>
              </c:strCache>
            </c:strRef>
          </c:cat>
          <c:val>
            <c:numRef>
              <c:f>Sheet1!$D$2:$D$5</c:f>
              <c:numCache>
                <c:formatCode>General</c:formatCode>
                <c:ptCount val="4"/>
                <c:pt idx="0">
                  <c:v>95.75</c:v>
                </c:pt>
                <c:pt idx="1">
                  <c:v>72.31</c:v>
                </c:pt>
                <c:pt idx="2">
                  <c:v>54.65</c:v>
                </c:pt>
                <c:pt idx="3">
                  <c:v>62.25</c:v>
                </c:pt>
              </c:numCache>
            </c:numRef>
          </c:val>
          <c:extLst>
            <c:ext xmlns:c16="http://schemas.microsoft.com/office/drawing/2014/chart" uri="{C3380CC4-5D6E-409C-BE32-E72D297353CC}">
              <c16:uniqueId val="{00000002-D2F6-45AF-BC6D-0D1B26EB62A1}"/>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56B"/>
                </a:solidFill>
                <a:latin typeface="+mn-lt"/>
              </a:defRPr>
            </a:pPr>
            <a:endParaRPr lang="en-US"/>
          </a:p>
        </c:txPr>
        <c:crossAx val="2094734552"/>
        <c:crosses val="autoZero"/>
        <c:auto val="1"/>
        <c:lblAlgn val="ctr"/>
        <c:lblOffset val="100"/>
        <c:noMultiLvlLbl val="1"/>
      </c:catAx>
      <c:valAx>
        <c:axId val="2094734552"/>
        <c:scaling>
          <c:orientation val="minMax"/>
          <c:max val="115"/>
          <c:min val="0"/>
        </c:scaling>
        <c:delete val="0"/>
        <c:axPos val="l"/>
        <c:majorGridlines>
          <c:spPr>
            <a:ln w="6350" cap="flat">
              <a:solidFill>
                <a:srgbClr val="D5E0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44556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3233A"/>
                </a:solidFill>
                <a:latin typeface="+mn-lt"/>
              </a:defRPr>
            </a:pPr>
            <a:r>
              <a:rPr sz="1400" b="0" i="0" u="none" strike="noStrike">
                <a:solidFill>
                  <a:srgbClr val="13233A"/>
                </a:solidFill>
                <a:latin typeface="+mn-lt"/>
              </a:rPr>
              <a:t>Important predictive features: Random Forest (top 8)</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0E7C86"/>
            </a:solidFill>
            <a:effectLst/>
          </c:spPr>
          <c:invertIfNegative val="0"/>
          <c:dPt>
            <c:idx val="0"/>
            <c:invertIfNegative val="0"/>
            <c:bubble3D val="0"/>
            <c:extLst>
              <c:ext xmlns:c16="http://schemas.microsoft.com/office/drawing/2014/chart" uri="{C3380CC4-5D6E-409C-BE32-E72D297353CC}">
                <c16:uniqueId val="{00000001-DA40-45F2-A52B-EB2CCB7AAEEA}"/>
              </c:ext>
            </c:extLst>
          </c:dPt>
          <c:dPt>
            <c:idx val="1"/>
            <c:invertIfNegative val="0"/>
            <c:bubble3D val="0"/>
            <c:extLst>
              <c:ext xmlns:c16="http://schemas.microsoft.com/office/drawing/2014/chart" uri="{C3380CC4-5D6E-409C-BE32-E72D297353CC}">
                <c16:uniqueId val="{00000003-DA40-45F2-A52B-EB2CCB7AAEEA}"/>
              </c:ext>
            </c:extLst>
          </c:dPt>
          <c:dPt>
            <c:idx val="2"/>
            <c:invertIfNegative val="0"/>
            <c:bubble3D val="0"/>
            <c:extLst>
              <c:ext xmlns:c16="http://schemas.microsoft.com/office/drawing/2014/chart" uri="{C3380CC4-5D6E-409C-BE32-E72D297353CC}">
                <c16:uniqueId val="{00000005-DA40-45F2-A52B-EB2CCB7AAEEA}"/>
              </c:ext>
            </c:extLst>
          </c:dPt>
          <c:dPt>
            <c:idx val="3"/>
            <c:invertIfNegative val="0"/>
            <c:bubble3D val="0"/>
            <c:extLst>
              <c:ext xmlns:c16="http://schemas.microsoft.com/office/drawing/2014/chart" uri="{C3380CC4-5D6E-409C-BE32-E72D297353CC}">
                <c16:uniqueId val="{00000007-DA40-45F2-A52B-EB2CCB7AAEEA}"/>
              </c:ext>
            </c:extLst>
          </c:dPt>
          <c:dPt>
            <c:idx val="4"/>
            <c:invertIfNegative val="0"/>
            <c:bubble3D val="0"/>
            <c:extLst>
              <c:ext xmlns:c16="http://schemas.microsoft.com/office/drawing/2014/chart" uri="{C3380CC4-5D6E-409C-BE32-E72D297353CC}">
                <c16:uniqueId val="{00000009-DA40-45F2-A52B-EB2CCB7AAEEA}"/>
              </c:ext>
            </c:extLst>
          </c:dPt>
          <c:dPt>
            <c:idx val="5"/>
            <c:invertIfNegative val="0"/>
            <c:bubble3D val="0"/>
            <c:spPr>
              <a:solidFill>
                <a:srgbClr val="1B4F8A"/>
              </a:solidFill>
              <a:effectLst/>
            </c:spPr>
            <c:extLst>
              <c:ext xmlns:c16="http://schemas.microsoft.com/office/drawing/2014/chart" uri="{C3380CC4-5D6E-409C-BE32-E72D297353CC}">
                <c16:uniqueId val="{0000000B-DA40-45F2-A52B-EB2CCB7AAEEA}"/>
              </c:ext>
            </c:extLst>
          </c:dPt>
          <c:dPt>
            <c:idx val="6"/>
            <c:invertIfNegative val="0"/>
            <c:bubble3D val="0"/>
            <c:spPr>
              <a:solidFill>
                <a:srgbClr val="1B4F8A"/>
              </a:solidFill>
              <a:effectLst/>
            </c:spPr>
            <c:extLst>
              <c:ext xmlns:c16="http://schemas.microsoft.com/office/drawing/2014/chart" uri="{C3380CC4-5D6E-409C-BE32-E72D297353CC}">
                <c16:uniqueId val="{0000000D-DA40-45F2-A52B-EB2CCB7AAEEA}"/>
              </c:ext>
            </c:extLst>
          </c:dPt>
          <c:dPt>
            <c:idx val="7"/>
            <c:invertIfNegative val="0"/>
            <c:bubble3D val="0"/>
            <c:spPr>
              <a:solidFill>
                <a:srgbClr val="1B4F8A"/>
              </a:solidFill>
              <a:effectLst/>
            </c:spPr>
            <c:extLst>
              <c:ext xmlns:c16="http://schemas.microsoft.com/office/drawing/2014/chart" uri="{C3380CC4-5D6E-409C-BE32-E72D297353CC}">
                <c16:uniqueId val="{0000000F-DA40-45F2-A52B-EB2CCB7AAEEA}"/>
              </c:ext>
            </c:extLst>
          </c:dPt>
          <c:dLbls>
            <c:numFmt formatCode="0.000" sourceLinked="0"/>
            <c:spPr>
              <a:noFill/>
              <a:ln>
                <a:noFill/>
              </a:ln>
              <a:effectLst/>
            </c:spPr>
            <c:txPr>
              <a:bodyPr/>
              <a:lstStyle/>
              <a:p>
                <a:pPr>
                  <a:defRPr sz="1000" b="0" i="0" u="none" strike="noStrike">
                    <a:solidFill>
                      <a:srgbClr val="1323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3-day rolling rain</c:v>
                </c:pt>
                <c:pt idx="1">
                  <c:v>Discharge (3 days earlier)</c:v>
                </c:pt>
                <c:pt idx="2">
                  <c:v>Soil moisture</c:v>
                </c:pt>
                <c:pt idx="3">
                  <c:v>Discharge (2 days earlier)</c:v>
                </c:pt>
                <c:pt idx="4">
                  <c:v>Month</c:v>
                </c:pt>
                <c:pt idx="5">
                  <c:v>Discharge (1 day earlier)</c:v>
                </c:pt>
                <c:pt idx="6">
                  <c:v>Dew point</c:v>
                </c:pt>
                <c:pt idx="7">
                  <c:v>7-day rolling rain</c:v>
                </c:pt>
              </c:strCache>
            </c:strRef>
          </c:cat>
          <c:val>
            <c:numRef>
              <c:f>Sheet1!$B$2:$B$9</c:f>
              <c:numCache>
                <c:formatCode>General</c:formatCode>
                <c:ptCount val="8"/>
                <c:pt idx="0">
                  <c:v>5.1400000000000001E-2</c:v>
                </c:pt>
                <c:pt idx="1">
                  <c:v>5.4800000000000001E-2</c:v>
                </c:pt>
                <c:pt idx="2">
                  <c:v>6.1499999999999999E-2</c:v>
                </c:pt>
                <c:pt idx="3">
                  <c:v>6.6400000000000001E-2</c:v>
                </c:pt>
                <c:pt idx="4">
                  <c:v>9.1300000000000006E-2</c:v>
                </c:pt>
                <c:pt idx="5">
                  <c:v>0.10680000000000001</c:v>
                </c:pt>
                <c:pt idx="6">
                  <c:v>0.12089999999999999</c:v>
                </c:pt>
                <c:pt idx="7">
                  <c:v>0.1265</c:v>
                </c:pt>
              </c:numCache>
            </c:numRef>
          </c:val>
          <c:extLst>
            <c:ext xmlns:c16="http://schemas.microsoft.com/office/drawing/2014/chart" uri="{C3380CC4-5D6E-409C-BE32-E72D297353CC}">
              <c16:uniqueId val="{00000010-DA40-45F2-A52B-EB2CCB7AAEEA}"/>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2"/>
        <c:crosses val="autoZero"/>
        <c:auto val="1"/>
        <c:lblAlgn val="ctr"/>
        <c:lblOffset val="100"/>
        <c:noMultiLvlLbl val="1"/>
      </c:catAx>
      <c:valAx>
        <c:axId val="2094734552"/>
        <c:scaling>
          <c:orientation val="minMax"/>
          <c:max val="0.16"/>
          <c:min val="0"/>
        </c:scaling>
        <c:delete val="0"/>
        <c:axPos val="b"/>
        <c:majorGridlines>
          <c:spPr>
            <a:ln w="6350" cap="flat">
              <a:solidFill>
                <a:srgbClr val="D5E0E8"/>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4556B"/>
                </a:solidFill>
                <a:latin typeface="+mn-lt"/>
              </a:defRPr>
            </a:pPr>
            <a:endParaRPr lang="en-US"/>
          </a:p>
        </c:txPr>
        <c:crossAx val="2094734554"/>
        <c:crosses val="autoZero"/>
        <c:crossBetween val="between"/>
        <c:majorUnit val="0.04"/>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3181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final internship project. I analysed daily weather and river-discharge records from 10 monitoring stations in Nepal, explored the patterns, and built models to predict next-day river discharge and to classify high-flow observations.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the background. Rainfall and river discharge are the main measurements used to monitor flood conditions, so I used them to explore patterns and to build models. Two tasks: regression predicts tomorrow's discharge; classification labels a day as high flow using that same day's discharge, so it is not a forecast.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data has 13,390 rows and 19 variables, with no missing values or duplicates. Creating lag, rolling and next-day features leaves some gaps at the start and end of each station's series. In the final notebook these gaps, including the next-day target, were filled with the column mean, so no rows were dropped. The notebook itself lists this as a limitation because it adds estimated values.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 report the median as well as the mean. The median is 1.88 m3/s but the mean is 20.37, and the maximum is 3,175.87. The distribution is strongly right-skewed.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discharge is very different between stations, which is why station information was kept as a model input (one-hot encoded) and why high flow was defined separately for each station.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monthly averages pool all stations and years, so high-discharge stations such as Kusum influence them strongly. The July to September rise matches the monsoon season.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Pearson correlations, so they only measure linear association on the same day. They do not show causation, and a weak same-day correlation does not by itself prove a delayed effect. I added lag and rolling features so the models could use earlier information.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kept the same Linear Regression model and compared it with and without the engineered features, using the same chronological test set. All error measures improved and R-squared rose from 0.8920 to 0.9038. This comes from a single chronological split.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counts and cutoff come from the final executed notebook: 1,339 unique dates, split at index 1,071, cutoff 7 Dec 2025, giving 10,710 training and 2,680 test records. A time-based split tests the model on later observations and reduces the risk of future-data leakage. It does not remove every risk: the mean used to fill missing values was calculated on the full dataset, and I used only one split.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Regression was selected as the best regression model because it had the highest R-squared and the lowest MSE and RMSE. RMSE gives more weight to large errors. It is not best on every metric: Random Forest has the lowest MAE. Linear Regression also produced some negative predictions.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scatter plot is Linear Regression on the test set. Points on the dashed line are perfect predictions. Station 375 is far harder than the others. One point on the plot sits far above the line, at an actual value of about 20 m3/s with a prediction of about 517 m3/s. The notebook filled missing target values with the mean, so I would treat that single point cautiously. I have not confirmed whether it is one of the filled rows.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shuffles one feature on the test set and measures how much the model score drops. Current-day discharge is the input from day t used to predict day t+1, and the two earlier discharge values come next. Longitude and station code act as station identifiers. Importance describes what the model uses, not cause and effect.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classification of high-flow observations, not a next-day forecast. The label comes from the same day's discharge compared with a station-specific threshold. Class weights make the minority class count more during training but do not change how many observations are in each class.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has the best accuracy, precision and F1-score, but it misses 78 of the 172 high-flow observations. Logistic Regression catches all of them but raises 418 false alarms. The better choice depends on whether missed events or false alarms cost more. The feature chart shows what the model uses, not what causes high flow.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with the right confidence: strong next-day regression performance overall (R-squared 0.9038), weaker on extreme flows, and a classification trade-off between precision and recall. Be open about the limitations the notebook lists, especially mean-filled values. The future improvements are ideas, not completed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011680"/>
            <a:ext cx="7680960" cy="15544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822960" y="3749040"/>
            <a:ext cx="6949440" cy="91440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chemeClr val="accent5"/>
                </a:solidFill>
              </a:rPr>
              <a:t>Nepal Flood &amp; Weather Analysis</a:t>
            </a:r>
            <a:endParaRPr lang="en-US" sz="11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100" dirty="0">
                <a:solidFill>
                  <a:schemeClr val="accent5"/>
                </a:solidFill>
              </a:rPr>
              <a:t>Nepal Flood &amp; Weather Analysis</a:t>
            </a:r>
            <a:endParaRPr lang="en-US" sz="11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circle 1"/>
          <p:cNvSpPr/>
          <p:nvPr/>
        </p:nvSpPr>
        <p:spPr>
          <a:xfrm>
            <a:off x="8138160" y="-1188720"/>
            <a:ext cx="5669280" cy="5669280"/>
          </a:xfrm>
          <a:prstGeom prst="ellipse">
            <a:avLst/>
          </a:prstGeom>
          <a:solidFill>
            <a:schemeClr val="accent1"/>
          </a:solidFill>
          <a:ln/>
        </p:spPr>
        <p:txBody>
          <a:bodyPr/>
          <a:lstStyle/>
          <a:p>
            <a:endParaRPr/>
          </a:p>
        </p:txBody>
      </p:sp>
      <p:sp>
        <p:nvSpPr>
          <p:cNvPr id="3" name="Decor circle 2"/>
          <p:cNvSpPr/>
          <p:nvPr/>
        </p:nvSpPr>
        <p:spPr>
          <a:xfrm>
            <a:off x="9326880" y="3291840"/>
            <a:ext cx="4572000" cy="4572000"/>
          </a:xfrm>
          <a:prstGeom prst="ellipse">
            <a:avLst/>
          </a:prstGeom>
          <a:solidFill>
            <a:schemeClr val="accent2"/>
          </a:solidFill>
          <a:ln/>
        </p:spPr>
        <p:txBody>
          <a:bodyPr/>
          <a:lstStyle/>
          <a:p>
            <a:endParaRPr/>
          </a:p>
        </p:txBody>
      </p:sp>
      <p:sp>
        <p:nvSpPr>
          <p:cNvPr id="4" name="Decor circle 3"/>
          <p:cNvSpPr/>
          <p:nvPr/>
        </p:nvSpPr>
        <p:spPr>
          <a:xfrm>
            <a:off x="6949440" y="4480560"/>
            <a:ext cx="2011680" cy="2011680"/>
          </a:xfrm>
          <a:prstGeom prst="ellipse">
            <a:avLst/>
          </a:prstGeom>
          <a:solidFill>
            <a:schemeClr val="accent4"/>
          </a:solidFill>
          <a:ln/>
        </p:spPr>
        <p:txBody>
          <a:bodyPr/>
          <a:lstStyle/>
          <a:p>
            <a:endParaRPr/>
          </a:p>
        </p:txBody>
      </p:sp>
      <p:sp>
        <p:nvSpPr>
          <p:cNvPr id="5" name="Title badge"/>
          <p:cNvSpPr/>
          <p:nvPr/>
        </p:nvSpPr>
        <p:spPr>
          <a:xfrm>
            <a:off x="822960" y="1143000"/>
            <a:ext cx="731520" cy="731520"/>
          </a:xfrm>
          <a:prstGeom prst="ellipse">
            <a:avLst/>
          </a:prstGeom>
          <a:solidFill>
            <a:schemeClr val="accent1"/>
          </a:solidFill>
          <a:ln/>
        </p:spPr>
        <p:txBody>
          <a:bodyPr/>
          <a:lstStyle/>
          <a:p>
            <a:endParaRPr/>
          </a:p>
        </p:txBody>
      </p:sp>
      <p:pic>
        <p:nvPicPr>
          <p:cNvPr id="6" name="Title icon" descr="preencoded.png"/>
          <p:cNvPicPr>
            <a:picLocks noChangeAspect="1"/>
          </p:cNvPicPr>
          <p:nvPr/>
        </p:nvPicPr>
        <p:blipFill>
          <a:blip r:embed="rId3"/>
          <a:stretch>
            <a:fillRect/>
          </a:stretch>
        </p:blipFill>
        <p:spPr>
          <a:xfrm>
            <a:off x="1020470" y="1340510"/>
            <a:ext cx="336499" cy="336499"/>
          </a:xfrm>
          <a:prstGeom prst="rect">
            <a:avLst/>
          </a:prstGeom>
        </p:spPr>
      </p:pic>
      <p:sp>
        <p:nvSpPr>
          <p:cNvPr id="7" name="Text 0"/>
          <p:cNvSpPr>
            <a:spLocks noGrp="1"/>
          </p:cNvSpPr>
          <p:nvPr>
            <p:ph type="title" idx="100" hasCustomPrompt="1"/>
          </p:nvPr>
        </p:nvSpPr>
        <p:spPr>
          <a:xfrm>
            <a:off x="822960" y="2011680"/>
            <a:ext cx="7680960" cy="1554480"/>
          </a:xfrm>
          <a:prstGeom prst="rect">
            <a:avLst/>
          </a:prstGeom>
          <a:noFill/>
          <a:ln/>
        </p:spPr>
        <p:txBody>
          <a:bodyPr wrap="square" lIns="0" tIns="0" rIns="0" bIns="0" rtlCol="0" anchor="b"/>
          <a:lstStyle/>
          <a:p>
            <a:pPr marL="0" indent="0" algn="l">
              <a:buNone/>
            </a:pPr>
            <a:r>
              <a:rPr lang="en-US" sz="4800" b="1" dirty="0">
                <a:solidFill>
                  <a:schemeClr val="bg1"/>
                </a:solidFill>
              </a:rPr>
              <a:t>Nepal Flood &amp; Weather Analysis</a:t>
            </a:r>
            <a:endParaRPr lang="en-US" sz="4800" dirty="0"/>
          </a:p>
        </p:txBody>
      </p:sp>
      <p:sp>
        <p:nvSpPr>
          <p:cNvPr id="8" name="Text 0"/>
          <p:cNvSpPr>
            <a:spLocks noGrp="1"/>
          </p:cNvSpPr>
          <p:nvPr>
            <p:ph type="body" idx="101" hasCustomPrompt="1"/>
          </p:nvPr>
        </p:nvSpPr>
        <p:spPr>
          <a:xfrm>
            <a:off x="822960" y="3749040"/>
            <a:ext cx="6949440" cy="914400"/>
          </a:xfrm>
          <a:prstGeom prst="rect">
            <a:avLst/>
          </a:prstGeom>
          <a:noFill/>
          <a:ln/>
        </p:spPr>
        <p:txBody>
          <a:bodyPr wrap="square" lIns="0" tIns="0" rIns="0" bIns="0" rtlCol="0" anchor="t"/>
          <a:lstStyle/>
          <a:p>
            <a:r>
              <a:t>Predicting next-day river discharge and high-flow events with machine learning</a:t>
            </a:r>
          </a:p>
        </p:txBody>
      </p:sp>
      <p:sp>
        <p:nvSpPr>
          <p:cNvPr id="9" name="Text 6"/>
          <p:cNvSpPr txBox="1"/>
          <p:nvPr/>
        </p:nvSpPr>
        <p:spPr>
          <a:xfrm>
            <a:off x="822960" y="5532120"/>
            <a:ext cx="7315200" cy="320040"/>
          </a:xfrm>
          <a:prstGeom prst="rect">
            <a:avLst/>
          </a:prstGeom>
          <a:noFill/>
          <a:ln/>
        </p:spPr>
        <p:txBody>
          <a:bodyPr wrap="square" lIns="0" tIns="0" rIns="0" bIns="0" rtlCol="0" anchor="t"/>
          <a:lstStyle/>
          <a:p>
            <a:r>
              <a:rPr sz="1700" b="1" dirty="0">
                <a:solidFill>
                  <a:srgbClr val="0F5569"/>
                </a:solidFill>
              </a:rPr>
              <a:t>Machine Learning Live Project </a:t>
            </a:r>
            <a:r>
              <a:rPr lang="en-US" sz="1700" b="1" dirty="0">
                <a:solidFill>
                  <a:srgbClr val="0F5569"/>
                </a:solidFill>
              </a:rPr>
              <a:t> | </a:t>
            </a:r>
            <a:r>
              <a:rPr lang="en-US" b="1" dirty="0" err="1">
                <a:solidFill>
                  <a:srgbClr val="0F5569"/>
                </a:solidFill>
              </a:rPr>
              <a:t>Anseena</a:t>
            </a:r>
            <a:r>
              <a:rPr lang="en-US" b="1" dirty="0">
                <a:solidFill>
                  <a:srgbClr val="0F5569"/>
                </a:solidFill>
              </a:rPr>
              <a:t> A </a:t>
            </a:r>
            <a:r>
              <a:rPr lang="en-US" sz="1700" b="1" dirty="0">
                <a:solidFill>
                  <a:srgbClr val="0F5569"/>
                </a:solidFill>
              </a:rPr>
              <a:t>S</a:t>
            </a:r>
            <a:endParaRPr sz="1700" b="1" dirty="0">
              <a:solidFill>
                <a:srgbClr val="0F556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Project introduction</a:t>
            </a:r>
            <a:endParaRPr lang="en-US" sz="3400" dirty="0"/>
          </a:p>
        </p:txBody>
      </p:sp>
      <p:sp>
        <p:nvSpPr>
          <p:cNvPr id="3" name="Intro card 1"/>
          <p:cNvSpPr/>
          <p:nvPr/>
        </p:nvSpPr>
        <p:spPr>
          <a:xfrm>
            <a:off x="548640" y="1463040"/>
            <a:ext cx="5440680" cy="2971800"/>
          </a:xfrm>
          <a:prstGeom prst="roundRect">
            <a:avLst>
              <a:gd name="adj" fmla="val 3692"/>
            </a:avLst>
          </a:prstGeom>
          <a:solidFill>
            <a:schemeClr val="bg2"/>
          </a:solidFill>
          <a:ln/>
          <a:effectLst>
            <a:outerShdw blurRad="101600" dist="25400" dir="5400000" algn="bl" rotWithShape="0">
              <a:srgbClr val="000000">
                <a:alpha val="12000"/>
              </a:srgbClr>
            </a:outerShdw>
          </a:effectLst>
        </p:spPr>
      </p:sp>
      <p:sp>
        <p:nvSpPr>
          <p:cNvPr id="4" name="Intro 1 badge"/>
          <p:cNvSpPr/>
          <p:nvPr/>
        </p:nvSpPr>
        <p:spPr>
          <a:xfrm>
            <a:off x="822960" y="1691640"/>
            <a:ext cx="640080" cy="640080"/>
          </a:xfrm>
          <a:prstGeom prst="ellipse">
            <a:avLst/>
          </a:prstGeom>
          <a:solidFill>
            <a:schemeClr val="accent1"/>
          </a:solidFill>
          <a:ln/>
        </p:spPr>
      </p:sp>
      <p:pic>
        <p:nvPicPr>
          <p:cNvPr id="5" name="Intro 1 icon" descr="preencoded.png"/>
          <p:cNvPicPr>
            <a:picLocks noChangeAspect="1"/>
          </p:cNvPicPr>
          <p:nvPr/>
        </p:nvPicPr>
        <p:blipFill>
          <a:blip r:embed="rId3"/>
          <a:stretch>
            <a:fillRect/>
          </a:stretch>
        </p:blipFill>
        <p:spPr>
          <a:xfrm>
            <a:off x="995782" y="1864462"/>
            <a:ext cx="294437" cy="294437"/>
          </a:xfrm>
          <a:prstGeom prst="rect">
            <a:avLst/>
          </a:prstGeom>
        </p:spPr>
      </p:pic>
      <p:sp>
        <p:nvSpPr>
          <p:cNvPr id="6" name="Text 3"/>
          <p:cNvSpPr txBox="1"/>
          <p:nvPr/>
        </p:nvSpPr>
        <p:spPr>
          <a:xfrm>
            <a:off x="1645920" y="1691640"/>
            <a:ext cx="4114800" cy="640080"/>
          </a:xfrm>
          <a:prstGeom prst="rect">
            <a:avLst/>
          </a:prstGeom>
          <a:noFill/>
          <a:ln/>
        </p:spPr>
        <p:txBody>
          <a:bodyPr wrap="square" lIns="0" tIns="0" rIns="0" bIns="0" rtlCol="0" anchor="ctr"/>
          <a:lstStyle/>
          <a:p>
            <a:pPr marL="0" indent="0">
              <a:buNone/>
            </a:pPr>
            <a:r>
              <a:rPr lang="en-US" sz="2000" b="1" dirty="0">
                <a:solidFill>
                  <a:schemeClr val="tx2"/>
                </a:solidFill>
              </a:rPr>
              <a:t>Background</a:t>
            </a:r>
            <a:endParaRPr lang="en-US" sz="2000" dirty="0"/>
          </a:p>
        </p:txBody>
      </p:sp>
      <p:sp>
        <p:nvSpPr>
          <p:cNvPr id="7" name="Text 4"/>
          <p:cNvSpPr txBox="1"/>
          <p:nvPr/>
        </p:nvSpPr>
        <p:spPr>
          <a:xfrm>
            <a:off x="822960" y="2560320"/>
            <a:ext cx="493776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Floods are linked to heavy rainfall and rising river flow.</a:t>
            </a:r>
            <a:endParaRPr lang="en-US" sz="1500" dirty="0"/>
          </a:p>
          <a:p>
            <a:pPr marL="342900" indent="-342900">
              <a:spcAft>
                <a:spcPts val="600"/>
              </a:spcAft>
              <a:buSzPct val="100000"/>
              <a:buChar char="•"/>
            </a:pPr>
            <a:r>
              <a:rPr lang="en-US" sz="1500" dirty="0">
                <a:solidFill>
                  <a:schemeClr val="tx1"/>
                </a:solidFill>
              </a:rPr>
              <a:t>This project studies daily weather and river discharge records from 10 monitoring stations in Nepal.</a:t>
            </a:r>
            <a:endParaRPr lang="en-US" sz="1500" dirty="0"/>
          </a:p>
          <a:p>
            <a:pPr marL="342900" indent="-342900">
              <a:spcAft>
                <a:spcPts val="600"/>
              </a:spcAft>
              <a:buSzPct val="100000"/>
              <a:buChar char="•"/>
            </a:pPr>
            <a:r>
              <a:rPr lang="en-US" sz="1500" dirty="0">
                <a:solidFill>
                  <a:schemeClr val="tx1"/>
                </a:solidFill>
              </a:rPr>
              <a:t>Data period: 1 Jan 2023 to 31 Aug 2026.</a:t>
            </a:r>
            <a:endParaRPr lang="en-US" sz="1500" dirty="0"/>
          </a:p>
        </p:txBody>
      </p:sp>
      <p:sp>
        <p:nvSpPr>
          <p:cNvPr id="8" name="Intro card 2"/>
          <p:cNvSpPr/>
          <p:nvPr/>
        </p:nvSpPr>
        <p:spPr>
          <a:xfrm>
            <a:off x="6172200" y="1463040"/>
            <a:ext cx="5440680" cy="2971800"/>
          </a:xfrm>
          <a:prstGeom prst="roundRect">
            <a:avLst>
              <a:gd name="adj" fmla="val 3692"/>
            </a:avLst>
          </a:prstGeom>
          <a:solidFill>
            <a:schemeClr val="bg2"/>
          </a:solidFill>
          <a:ln/>
          <a:effectLst>
            <a:outerShdw blurRad="101600" dist="25400" dir="5400000" algn="bl" rotWithShape="0">
              <a:srgbClr val="000000">
                <a:alpha val="12000"/>
              </a:srgbClr>
            </a:outerShdw>
          </a:effectLst>
        </p:spPr>
      </p:sp>
      <p:sp>
        <p:nvSpPr>
          <p:cNvPr id="9" name="Intro 2 badge"/>
          <p:cNvSpPr/>
          <p:nvPr/>
        </p:nvSpPr>
        <p:spPr>
          <a:xfrm>
            <a:off x="6446520" y="1691640"/>
            <a:ext cx="640080" cy="640080"/>
          </a:xfrm>
          <a:prstGeom prst="ellipse">
            <a:avLst/>
          </a:prstGeom>
          <a:solidFill>
            <a:schemeClr val="accent1"/>
          </a:solidFill>
          <a:ln/>
        </p:spPr>
      </p:sp>
      <p:pic>
        <p:nvPicPr>
          <p:cNvPr id="10" name="Intro 2 icon" descr="preencoded.png"/>
          <p:cNvPicPr>
            <a:picLocks noChangeAspect="1"/>
          </p:cNvPicPr>
          <p:nvPr/>
        </p:nvPicPr>
        <p:blipFill>
          <a:blip r:embed="rId4"/>
          <a:stretch>
            <a:fillRect/>
          </a:stretch>
        </p:blipFill>
        <p:spPr>
          <a:xfrm>
            <a:off x="6619342" y="1864462"/>
            <a:ext cx="294437" cy="294437"/>
          </a:xfrm>
          <a:prstGeom prst="rect">
            <a:avLst/>
          </a:prstGeom>
        </p:spPr>
      </p:pic>
      <p:sp>
        <p:nvSpPr>
          <p:cNvPr id="11" name="Text 7"/>
          <p:cNvSpPr txBox="1"/>
          <p:nvPr/>
        </p:nvSpPr>
        <p:spPr>
          <a:xfrm>
            <a:off x="7269480" y="1691640"/>
            <a:ext cx="4114800" cy="640080"/>
          </a:xfrm>
          <a:prstGeom prst="rect">
            <a:avLst/>
          </a:prstGeom>
          <a:noFill/>
          <a:ln/>
        </p:spPr>
        <p:txBody>
          <a:bodyPr wrap="square" lIns="0" tIns="0" rIns="0" bIns="0" rtlCol="0" anchor="ctr"/>
          <a:lstStyle/>
          <a:p>
            <a:pPr marL="0" indent="0">
              <a:buNone/>
            </a:pPr>
            <a:r>
              <a:rPr lang="en-US" sz="2000" b="1" dirty="0">
                <a:solidFill>
                  <a:schemeClr val="tx2"/>
                </a:solidFill>
              </a:rPr>
              <a:t>Why monitoring matters</a:t>
            </a:r>
            <a:endParaRPr lang="en-US" sz="2000" dirty="0"/>
          </a:p>
        </p:txBody>
      </p:sp>
      <p:sp>
        <p:nvSpPr>
          <p:cNvPr id="12" name="Text 8"/>
          <p:cNvSpPr txBox="1"/>
          <p:nvPr/>
        </p:nvSpPr>
        <p:spPr>
          <a:xfrm>
            <a:off x="6446520" y="2560320"/>
            <a:ext cx="4937760" cy="17830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Rainfall and river discharge are key indicators for flood monitoring.</a:t>
            </a:r>
            <a:endParaRPr lang="en-US" sz="1500" dirty="0"/>
          </a:p>
          <a:p>
            <a:pPr marL="342900" indent="-342900">
              <a:spcAft>
                <a:spcPts val="600"/>
              </a:spcAft>
              <a:buSzPct val="100000"/>
              <a:buChar char="•"/>
            </a:pPr>
            <a:r>
              <a:rPr lang="en-US" sz="1500" dirty="0">
                <a:solidFill>
                  <a:schemeClr val="tx1"/>
                </a:solidFill>
              </a:rPr>
              <a:t>Tracking them shows seasonal patterns and differences between stations.</a:t>
            </a:r>
            <a:endParaRPr lang="en-US" sz="1500" dirty="0"/>
          </a:p>
          <a:p>
            <a:pPr marL="342900" indent="-342900">
              <a:spcAft>
                <a:spcPts val="600"/>
              </a:spcAft>
              <a:buSzPct val="100000"/>
              <a:buChar char="•"/>
            </a:pPr>
            <a:r>
              <a:rPr lang="en-US" sz="1500" dirty="0">
                <a:solidFill>
                  <a:schemeClr val="tx1"/>
                </a:solidFill>
              </a:rPr>
              <a:t>Past records can help models estimate future river discharge.</a:t>
            </a:r>
            <a:endParaRPr lang="en-US" sz="1500" dirty="0"/>
          </a:p>
        </p:txBody>
      </p:sp>
      <p:sp>
        <p:nvSpPr>
          <p:cNvPr id="13" name="Task card 1"/>
          <p:cNvSpPr/>
          <p:nvPr/>
        </p:nvSpPr>
        <p:spPr>
          <a:xfrm>
            <a:off x="548640" y="4663440"/>
            <a:ext cx="5440680" cy="1463040"/>
          </a:xfrm>
          <a:prstGeom prst="roundRect">
            <a:avLst>
              <a:gd name="adj" fmla="val 7500"/>
            </a:avLst>
          </a:prstGeom>
          <a:solidFill>
            <a:schemeClr val="tx2"/>
          </a:solidFill>
          <a:ln/>
        </p:spPr>
      </p:sp>
      <p:sp>
        <p:nvSpPr>
          <p:cNvPr id="14" name="Task 1 badge"/>
          <p:cNvSpPr/>
          <p:nvPr/>
        </p:nvSpPr>
        <p:spPr>
          <a:xfrm>
            <a:off x="822960" y="4937760"/>
            <a:ext cx="594360" cy="594360"/>
          </a:xfrm>
          <a:prstGeom prst="ellipse">
            <a:avLst/>
          </a:prstGeom>
          <a:solidFill>
            <a:schemeClr val="accent1"/>
          </a:solidFill>
          <a:ln/>
        </p:spPr>
      </p:sp>
      <p:pic>
        <p:nvPicPr>
          <p:cNvPr id="15" name="Task 1 icon" descr="preencoded.png"/>
          <p:cNvPicPr>
            <a:picLocks noChangeAspect="1"/>
          </p:cNvPicPr>
          <p:nvPr/>
        </p:nvPicPr>
        <p:blipFill>
          <a:blip r:embed="rId5"/>
          <a:stretch>
            <a:fillRect/>
          </a:stretch>
        </p:blipFill>
        <p:spPr>
          <a:xfrm>
            <a:off x="983437" y="5098237"/>
            <a:ext cx="273406" cy="273406"/>
          </a:xfrm>
          <a:prstGeom prst="rect">
            <a:avLst/>
          </a:prstGeom>
        </p:spPr>
      </p:pic>
      <p:sp>
        <p:nvSpPr>
          <p:cNvPr id="16" name="Text 11"/>
          <p:cNvSpPr txBox="1"/>
          <p:nvPr/>
        </p:nvSpPr>
        <p:spPr>
          <a:xfrm>
            <a:off x="1645920" y="4846320"/>
            <a:ext cx="4114800" cy="365760"/>
          </a:xfrm>
          <a:prstGeom prst="rect">
            <a:avLst/>
          </a:prstGeom>
          <a:noFill/>
          <a:ln/>
        </p:spPr>
        <p:txBody>
          <a:bodyPr wrap="square" lIns="0" tIns="0" rIns="0" bIns="0" rtlCol="0" anchor="t"/>
          <a:lstStyle/>
          <a:p>
            <a:pPr marL="0" indent="0">
              <a:buNone/>
            </a:pPr>
            <a:r>
              <a:rPr lang="en-US" sz="1800" b="1" dirty="0">
                <a:solidFill>
                  <a:schemeClr val="accent4"/>
                </a:solidFill>
              </a:rPr>
              <a:t>Regression task</a:t>
            </a:r>
            <a:endParaRPr lang="en-US" sz="1800" dirty="0"/>
          </a:p>
        </p:txBody>
      </p:sp>
      <p:sp>
        <p:nvSpPr>
          <p:cNvPr id="17" name="Text 12"/>
          <p:cNvSpPr txBox="1"/>
          <p:nvPr/>
        </p:nvSpPr>
        <p:spPr>
          <a:xfrm>
            <a:off x="1645920" y="5257800"/>
            <a:ext cx="4114800" cy="777240"/>
          </a:xfrm>
          <a:prstGeom prst="rect">
            <a:avLst/>
          </a:prstGeom>
          <a:noFill/>
          <a:ln/>
        </p:spPr>
        <p:txBody>
          <a:bodyPr wrap="square" lIns="0" tIns="0" rIns="0" bIns="0" rtlCol="0" anchor="t"/>
          <a:lstStyle/>
          <a:p>
            <a:pPr marL="0" indent="0">
              <a:buNone/>
            </a:pPr>
            <a:r>
              <a:rPr lang="en-US" sz="1400" dirty="0">
                <a:solidFill>
                  <a:schemeClr val="bg1"/>
                </a:solidFill>
              </a:rPr>
              <a:t>Predict next-day river discharge (m³/s).</a:t>
            </a:r>
            <a:endParaRPr lang="en-US" sz="1400" dirty="0"/>
          </a:p>
        </p:txBody>
      </p:sp>
      <p:sp>
        <p:nvSpPr>
          <p:cNvPr id="18" name="Task card 2"/>
          <p:cNvSpPr/>
          <p:nvPr/>
        </p:nvSpPr>
        <p:spPr>
          <a:xfrm>
            <a:off x="6172200" y="4663440"/>
            <a:ext cx="5440680" cy="1463040"/>
          </a:xfrm>
          <a:prstGeom prst="roundRect">
            <a:avLst>
              <a:gd name="adj" fmla="val 7500"/>
            </a:avLst>
          </a:prstGeom>
          <a:solidFill>
            <a:schemeClr val="tx2"/>
          </a:solidFill>
          <a:ln/>
        </p:spPr>
      </p:sp>
      <p:sp>
        <p:nvSpPr>
          <p:cNvPr id="19" name="Task 2 badge"/>
          <p:cNvSpPr/>
          <p:nvPr/>
        </p:nvSpPr>
        <p:spPr>
          <a:xfrm>
            <a:off x="6446520" y="4937760"/>
            <a:ext cx="594360" cy="594360"/>
          </a:xfrm>
          <a:prstGeom prst="ellipse">
            <a:avLst/>
          </a:prstGeom>
          <a:solidFill>
            <a:schemeClr val="accent3"/>
          </a:solidFill>
          <a:ln/>
        </p:spPr>
      </p:sp>
      <p:pic>
        <p:nvPicPr>
          <p:cNvPr id="20" name="Task 2 icon" descr="preencoded.png"/>
          <p:cNvPicPr>
            <a:picLocks noChangeAspect="1"/>
          </p:cNvPicPr>
          <p:nvPr/>
        </p:nvPicPr>
        <p:blipFill>
          <a:blip r:embed="rId6"/>
          <a:stretch>
            <a:fillRect/>
          </a:stretch>
        </p:blipFill>
        <p:spPr>
          <a:xfrm>
            <a:off x="6606997" y="5098237"/>
            <a:ext cx="273406" cy="273406"/>
          </a:xfrm>
          <a:prstGeom prst="rect">
            <a:avLst/>
          </a:prstGeom>
        </p:spPr>
      </p:pic>
      <p:sp>
        <p:nvSpPr>
          <p:cNvPr id="21" name="Text 15"/>
          <p:cNvSpPr txBox="1"/>
          <p:nvPr/>
        </p:nvSpPr>
        <p:spPr>
          <a:xfrm>
            <a:off x="7269480" y="4846320"/>
            <a:ext cx="4114800" cy="365760"/>
          </a:xfrm>
          <a:prstGeom prst="rect">
            <a:avLst/>
          </a:prstGeom>
          <a:noFill/>
          <a:ln/>
        </p:spPr>
        <p:txBody>
          <a:bodyPr wrap="square" lIns="0" tIns="0" rIns="0" bIns="0" rtlCol="0" anchor="t"/>
          <a:lstStyle/>
          <a:p>
            <a:pPr marL="0" indent="0">
              <a:buNone/>
            </a:pPr>
            <a:r>
              <a:rPr lang="en-US" sz="1800" b="1" dirty="0">
                <a:solidFill>
                  <a:schemeClr val="accent4"/>
                </a:solidFill>
              </a:rPr>
              <a:t>Classification task</a:t>
            </a:r>
            <a:endParaRPr lang="en-US" sz="1800" dirty="0"/>
          </a:p>
        </p:txBody>
      </p:sp>
      <p:sp>
        <p:nvSpPr>
          <p:cNvPr id="22" name="Text 16"/>
          <p:cNvSpPr txBox="1"/>
          <p:nvPr/>
        </p:nvSpPr>
        <p:spPr>
          <a:xfrm>
            <a:off x="7269480" y="5257800"/>
            <a:ext cx="4114800" cy="777240"/>
          </a:xfrm>
          <a:prstGeom prst="rect">
            <a:avLst/>
          </a:prstGeom>
          <a:noFill/>
          <a:ln/>
        </p:spPr>
        <p:txBody>
          <a:bodyPr wrap="square" lIns="0" tIns="0" rIns="0" bIns="0" rtlCol="0" anchor="t"/>
          <a:lstStyle/>
          <a:p>
            <a:pPr marL="0" indent="0">
              <a:buNone/>
            </a:pPr>
            <a:r>
              <a:rPr lang="en-US" sz="1400" dirty="0">
                <a:solidFill>
                  <a:schemeClr val="bg1"/>
                </a:solidFill>
              </a:rPr>
              <a:t>Label high-flow observations using the same day's discharge. This is not a next-day forecast.</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Dataset and preprocessing</a:t>
            </a:r>
            <a:endParaRPr lang="en-US" sz="3400" dirty="0"/>
          </a:p>
        </p:txBody>
      </p:sp>
      <p:sp>
        <p:nvSpPr>
          <p:cNvPr id="3" name="Data card 1"/>
          <p:cNvSpPr/>
          <p:nvPr/>
        </p:nvSpPr>
        <p:spPr>
          <a:xfrm>
            <a:off x="548640" y="1463040"/>
            <a:ext cx="3474720" cy="3154680"/>
          </a:xfrm>
          <a:prstGeom prst="roundRect">
            <a:avLst>
              <a:gd name="adj" fmla="val 3478"/>
            </a:avLst>
          </a:prstGeom>
          <a:solidFill>
            <a:schemeClr val="bg2"/>
          </a:solidFill>
          <a:ln/>
          <a:effectLst>
            <a:outerShdw blurRad="101600" dist="25400" dir="5400000" algn="bl" rotWithShape="0">
              <a:srgbClr val="000000">
                <a:alpha val="12000"/>
              </a:srgbClr>
            </a:outerShdw>
          </a:effectLst>
        </p:spPr>
      </p:sp>
      <p:sp>
        <p:nvSpPr>
          <p:cNvPr id="4" name="Data 1 badge"/>
          <p:cNvSpPr/>
          <p:nvPr/>
        </p:nvSpPr>
        <p:spPr>
          <a:xfrm>
            <a:off x="822960" y="1691640"/>
            <a:ext cx="640080" cy="640080"/>
          </a:xfrm>
          <a:prstGeom prst="ellipse">
            <a:avLst/>
          </a:prstGeom>
          <a:solidFill>
            <a:schemeClr val="accent1"/>
          </a:solidFill>
          <a:ln/>
        </p:spPr>
      </p:sp>
      <p:pic>
        <p:nvPicPr>
          <p:cNvPr id="5" name="Data 1 icon" descr="preencoded.png"/>
          <p:cNvPicPr>
            <a:picLocks noChangeAspect="1"/>
          </p:cNvPicPr>
          <p:nvPr/>
        </p:nvPicPr>
        <p:blipFill>
          <a:blip r:embed="rId3"/>
          <a:stretch>
            <a:fillRect/>
          </a:stretch>
        </p:blipFill>
        <p:spPr>
          <a:xfrm>
            <a:off x="995782" y="1864462"/>
            <a:ext cx="294437" cy="294437"/>
          </a:xfrm>
          <a:prstGeom prst="rect">
            <a:avLst/>
          </a:prstGeom>
        </p:spPr>
      </p:pic>
      <p:sp>
        <p:nvSpPr>
          <p:cNvPr id="6" name="Text 3"/>
          <p:cNvSpPr txBox="1"/>
          <p:nvPr/>
        </p:nvSpPr>
        <p:spPr>
          <a:xfrm>
            <a:off x="1645920" y="1691640"/>
            <a:ext cx="2194560" cy="640080"/>
          </a:xfrm>
          <a:prstGeom prst="rect">
            <a:avLst/>
          </a:prstGeom>
          <a:noFill/>
          <a:ln/>
        </p:spPr>
        <p:txBody>
          <a:bodyPr wrap="square" lIns="0" tIns="0" rIns="0" bIns="0" rtlCol="0" anchor="ctr"/>
          <a:lstStyle/>
          <a:p>
            <a:pPr marL="0" indent="0">
              <a:buNone/>
            </a:pPr>
            <a:r>
              <a:rPr lang="en-US" sz="2000" b="1" dirty="0">
                <a:solidFill>
                  <a:schemeClr val="tx2"/>
                </a:solidFill>
              </a:rPr>
              <a:t>Location</a:t>
            </a:r>
            <a:endParaRPr lang="en-US" sz="2000" dirty="0"/>
          </a:p>
        </p:txBody>
      </p:sp>
      <p:sp>
        <p:nvSpPr>
          <p:cNvPr id="7" name="Text 4"/>
          <p:cNvSpPr txBox="1"/>
          <p:nvPr/>
        </p:nvSpPr>
        <p:spPr>
          <a:xfrm>
            <a:off x="822960" y="2560320"/>
            <a:ext cx="3017520" cy="19659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Station, river and basin</a:t>
            </a:r>
            <a:endParaRPr lang="en-US" sz="1500" dirty="0"/>
          </a:p>
          <a:p>
            <a:pPr marL="342900" indent="-342900">
              <a:spcAft>
                <a:spcPts val="600"/>
              </a:spcAft>
              <a:buSzPct val="100000"/>
              <a:buChar char="•"/>
            </a:pPr>
            <a:r>
              <a:rPr lang="en-US" sz="1500" dirty="0">
                <a:solidFill>
                  <a:schemeClr val="tx1"/>
                </a:solidFill>
              </a:rPr>
              <a:t>Latitude, longitude, elevation</a:t>
            </a:r>
            <a:endParaRPr lang="en-US" sz="1500" dirty="0"/>
          </a:p>
          <a:p>
            <a:pPr marL="342900" indent="-342900">
              <a:spcAft>
                <a:spcPts val="600"/>
              </a:spcAft>
              <a:buSzPct val="100000"/>
              <a:buChar char="•"/>
            </a:pPr>
            <a:r>
              <a:rPr lang="en-US" sz="1500" dirty="0">
                <a:solidFill>
                  <a:schemeClr val="tx1"/>
                </a:solidFill>
              </a:rPr>
              <a:t>10 stations, 9 basin labels</a:t>
            </a:r>
            <a:endParaRPr lang="en-US" sz="1500" dirty="0"/>
          </a:p>
        </p:txBody>
      </p:sp>
      <p:sp>
        <p:nvSpPr>
          <p:cNvPr id="8" name="Data card 2"/>
          <p:cNvSpPr/>
          <p:nvPr/>
        </p:nvSpPr>
        <p:spPr>
          <a:xfrm>
            <a:off x="4343400" y="1463040"/>
            <a:ext cx="3474720" cy="3154680"/>
          </a:xfrm>
          <a:prstGeom prst="roundRect">
            <a:avLst>
              <a:gd name="adj" fmla="val 3478"/>
            </a:avLst>
          </a:prstGeom>
          <a:solidFill>
            <a:schemeClr val="bg2"/>
          </a:solidFill>
          <a:ln/>
          <a:effectLst>
            <a:outerShdw blurRad="101600" dist="25400" dir="5400000" algn="bl" rotWithShape="0">
              <a:srgbClr val="000000">
                <a:alpha val="12000"/>
              </a:srgbClr>
            </a:outerShdw>
          </a:effectLst>
        </p:spPr>
      </p:sp>
      <p:sp>
        <p:nvSpPr>
          <p:cNvPr id="9" name="Data 2 badge"/>
          <p:cNvSpPr/>
          <p:nvPr/>
        </p:nvSpPr>
        <p:spPr>
          <a:xfrm>
            <a:off x="4617720" y="1691640"/>
            <a:ext cx="640080" cy="640080"/>
          </a:xfrm>
          <a:prstGeom prst="ellipse">
            <a:avLst/>
          </a:prstGeom>
          <a:solidFill>
            <a:schemeClr val="accent1"/>
          </a:solidFill>
          <a:ln/>
        </p:spPr>
      </p:sp>
      <p:pic>
        <p:nvPicPr>
          <p:cNvPr id="10" name="Data 2 icon" descr="preencoded.png"/>
          <p:cNvPicPr>
            <a:picLocks noChangeAspect="1"/>
          </p:cNvPicPr>
          <p:nvPr/>
        </p:nvPicPr>
        <p:blipFill>
          <a:blip r:embed="rId4"/>
          <a:stretch>
            <a:fillRect/>
          </a:stretch>
        </p:blipFill>
        <p:spPr>
          <a:xfrm>
            <a:off x="4790542" y="1864462"/>
            <a:ext cx="294437" cy="294437"/>
          </a:xfrm>
          <a:prstGeom prst="rect">
            <a:avLst/>
          </a:prstGeom>
        </p:spPr>
      </p:pic>
      <p:sp>
        <p:nvSpPr>
          <p:cNvPr id="11" name="Text 7"/>
          <p:cNvSpPr txBox="1"/>
          <p:nvPr/>
        </p:nvSpPr>
        <p:spPr>
          <a:xfrm>
            <a:off x="5440680" y="1691640"/>
            <a:ext cx="2194560" cy="640080"/>
          </a:xfrm>
          <a:prstGeom prst="rect">
            <a:avLst/>
          </a:prstGeom>
          <a:noFill/>
          <a:ln/>
        </p:spPr>
        <p:txBody>
          <a:bodyPr wrap="square" lIns="0" tIns="0" rIns="0" bIns="0" rtlCol="0" anchor="ctr"/>
          <a:lstStyle/>
          <a:p>
            <a:pPr marL="0" indent="0">
              <a:buNone/>
            </a:pPr>
            <a:r>
              <a:rPr lang="en-US" sz="2000" b="1" dirty="0">
                <a:solidFill>
                  <a:schemeClr val="tx2"/>
                </a:solidFill>
              </a:rPr>
              <a:t>Weather</a:t>
            </a:r>
            <a:endParaRPr lang="en-US" sz="2000" dirty="0"/>
          </a:p>
        </p:txBody>
      </p:sp>
      <p:sp>
        <p:nvSpPr>
          <p:cNvPr id="12" name="Text 8"/>
          <p:cNvSpPr txBox="1"/>
          <p:nvPr/>
        </p:nvSpPr>
        <p:spPr>
          <a:xfrm>
            <a:off x="4617720" y="2560320"/>
            <a:ext cx="3017520" cy="19659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Rain, precipitation, precipitation hours</a:t>
            </a:r>
            <a:endParaRPr lang="en-US" sz="1500" dirty="0"/>
          </a:p>
          <a:p>
            <a:pPr marL="342900" indent="-342900">
              <a:spcAft>
                <a:spcPts val="600"/>
              </a:spcAft>
              <a:buSzPct val="100000"/>
              <a:buChar char="•"/>
            </a:pPr>
            <a:r>
              <a:rPr lang="en-US" sz="1500" dirty="0">
                <a:solidFill>
                  <a:schemeClr val="tx1"/>
                </a:solidFill>
              </a:rPr>
              <a:t>Soil moisture</a:t>
            </a:r>
            <a:endParaRPr lang="en-US" sz="1500" dirty="0"/>
          </a:p>
          <a:p>
            <a:pPr marL="342900" indent="-342900">
              <a:spcAft>
                <a:spcPts val="600"/>
              </a:spcAft>
              <a:buSzPct val="100000"/>
              <a:buChar char="•"/>
            </a:pPr>
            <a:r>
              <a:rPr lang="en-US" sz="1500" dirty="0">
                <a:solidFill>
                  <a:schemeClr val="tx1"/>
                </a:solidFill>
              </a:rPr>
              <a:t>Temperature, dew point, humidity</a:t>
            </a:r>
            <a:endParaRPr lang="en-US" sz="1500" dirty="0"/>
          </a:p>
          <a:p>
            <a:pPr marL="342900" indent="-342900">
              <a:spcAft>
                <a:spcPts val="600"/>
              </a:spcAft>
              <a:buSzPct val="100000"/>
              <a:buChar char="•"/>
            </a:pPr>
            <a:r>
              <a:rPr lang="en-US" sz="1500" dirty="0">
                <a:solidFill>
                  <a:schemeClr val="tx1"/>
                </a:solidFill>
              </a:rPr>
              <a:t>Wind speed, gusts and direction</a:t>
            </a:r>
            <a:endParaRPr lang="en-US" sz="1500" dirty="0"/>
          </a:p>
        </p:txBody>
      </p:sp>
      <p:sp>
        <p:nvSpPr>
          <p:cNvPr id="13" name="Data card 3"/>
          <p:cNvSpPr/>
          <p:nvPr/>
        </p:nvSpPr>
        <p:spPr>
          <a:xfrm>
            <a:off x="8138160" y="1463040"/>
            <a:ext cx="3474720" cy="3154680"/>
          </a:xfrm>
          <a:prstGeom prst="roundRect">
            <a:avLst>
              <a:gd name="adj" fmla="val 3478"/>
            </a:avLst>
          </a:prstGeom>
          <a:solidFill>
            <a:schemeClr val="bg2"/>
          </a:solidFill>
          <a:ln/>
          <a:effectLst>
            <a:outerShdw blurRad="101600" dist="25400" dir="5400000" algn="bl" rotWithShape="0">
              <a:srgbClr val="000000">
                <a:alpha val="12000"/>
              </a:srgbClr>
            </a:outerShdw>
          </a:effectLst>
        </p:spPr>
      </p:sp>
      <p:sp>
        <p:nvSpPr>
          <p:cNvPr id="14" name="Data 3 badge"/>
          <p:cNvSpPr/>
          <p:nvPr/>
        </p:nvSpPr>
        <p:spPr>
          <a:xfrm>
            <a:off x="8412480" y="1691640"/>
            <a:ext cx="640080" cy="640080"/>
          </a:xfrm>
          <a:prstGeom prst="ellipse">
            <a:avLst/>
          </a:prstGeom>
          <a:solidFill>
            <a:schemeClr val="accent1"/>
          </a:solidFill>
          <a:ln/>
        </p:spPr>
      </p:sp>
      <p:pic>
        <p:nvPicPr>
          <p:cNvPr id="15" name="Data 3 icon" descr="preencoded.png"/>
          <p:cNvPicPr>
            <a:picLocks noChangeAspect="1"/>
          </p:cNvPicPr>
          <p:nvPr/>
        </p:nvPicPr>
        <p:blipFill>
          <a:blip r:embed="rId5"/>
          <a:stretch>
            <a:fillRect/>
          </a:stretch>
        </p:blipFill>
        <p:spPr>
          <a:xfrm>
            <a:off x="8585302" y="1864462"/>
            <a:ext cx="294437" cy="294437"/>
          </a:xfrm>
          <a:prstGeom prst="rect">
            <a:avLst/>
          </a:prstGeom>
        </p:spPr>
      </p:pic>
      <p:sp>
        <p:nvSpPr>
          <p:cNvPr id="16" name="Text 11"/>
          <p:cNvSpPr txBox="1"/>
          <p:nvPr/>
        </p:nvSpPr>
        <p:spPr>
          <a:xfrm>
            <a:off x="9235440" y="1691640"/>
            <a:ext cx="2194560" cy="640080"/>
          </a:xfrm>
          <a:prstGeom prst="rect">
            <a:avLst/>
          </a:prstGeom>
          <a:noFill/>
          <a:ln/>
        </p:spPr>
        <p:txBody>
          <a:bodyPr wrap="square" lIns="0" tIns="0" rIns="0" bIns="0" rtlCol="0" anchor="ctr"/>
          <a:lstStyle/>
          <a:p>
            <a:pPr marL="0" indent="0">
              <a:buNone/>
            </a:pPr>
            <a:r>
              <a:rPr lang="en-US" sz="2000" b="1" dirty="0">
                <a:solidFill>
                  <a:schemeClr val="tx2"/>
                </a:solidFill>
              </a:rPr>
              <a:t>River</a:t>
            </a:r>
            <a:endParaRPr lang="en-US" sz="2000" dirty="0"/>
          </a:p>
        </p:txBody>
      </p:sp>
      <p:sp>
        <p:nvSpPr>
          <p:cNvPr id="17" name="Text 12"/>
          <p:cNvSpPr txBox="1"/>
          <p:nvPr/>
        </p:nvSpPr>
        <p:spPr>
          <a:xfrm>
            <a:off x="8412480" y="2560320"/>
            <a:ext cx="3017520" cy="19659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Daily discharge (m³/s)</a:t>
            </a:r>
            <a:endParaRPr lang="en-US" sz="1500" dirty="0"/>
          </a:p>
          <a:p>
            <a:pPr marL="342900" indent="-342900">
              <a:spcAft>
                <a:spcPts val="600"/>
              </a:spcAft>
              <a:buSzPct val="100000"/>
              <a:buChar char="•"/>
            </a:pPr>
            <a:r>
              <a:rPr lang="en-US" sz="1500" dirty="0">
                <a:solidFill>
                  <a:schemeClr val="tx1"/>
                </a:solidFill>
              </a:rPr>
              <a:t>1 Jan 2023 to 31 Aug 2026</a:t>
            </a:r>
            <a:endParaRPr lang="en-US" sz="1500" dirty="0"/>
          </a:p>
          <a:p>
            <a:pPr marL="342900" indent="-342900">
              <a:spcAft>
                <a:spcPts val="600"/>
              </a:spcAft>
              <a:buSzPct val="100000"/>
              <a:buChar char="•"/>
            </a:pPr>
            <a:r>
              <a:rPr lang="en-US" sz="1500" dirty="0">
                <a:solidFill>
                  <a:schemeClr val="tx1"/>
                </a:solidFill>
              </a:rPr>
              <a:t>19 original variables</a:t>
            </a:r>
            <a:endParaRPr lang="en-US" sz="1500" dirty="0"/>
          </a:p>
          <a:p>
            <a:pPr marL="342900" indent="-342900">
              <a:spcAft>
                <a:spcPts val="600"/>
              </a:spcAft>
              <a:buSzPct val="100000"/>
              <a:buChar char="•"/>
            </a:pPr>
            <a:r>
              <a:rPr lang="en-US" sz="1500" dirty="0">
                <a:solidFill>
                  <a:schemeClr val="tx1"/>
                </a:solidFill>
              </a:rPr>
              <a:t>Gaps from lag, rolling and next-day features filled with the mean</a:t>
            </a:r>
            <a:endParaRPr lang="en-US" sz="1500" dirty="0"/>
          </a:p>
        </p:txBody>
      </p:sp>
      <p:sp>
        <p:nvSpPr>
          <p:cNvPr id="18" name="Quality strip"/>
          <p:cNvSpPr/>
          <p:nvPr/>
        </p:nvSpPr>
        <p:spPr>
          <a:xfrm>
            <a:off x="548640" y="4892040"/>
            <a:ext cx="11064240" cy="1280160"/>
          </a:xfrm>
          <a:prstGeom prst="roundRect">
            <a:avLst>
              <a:gd name="adj" fmla="val 8571"/>
            </a:avLst>
          </a:prstGeom>
          <a:solidFill>
            <a:schemeClr val="tx2"/>
          </a:solidFill>
          <a:ln/>
        </p:spPr>
      </p:sp>
      <p:sp>
        <p:nvSpPr>
          <p:cNvPr id="19" name="Text 14"/>
          <p:cNvSpPr txBox="1"/>
          <p:nvPr/>
        </p:nvSpPr>
        <p:spPr>
          <a:xfrm>
            <a:off x="822960" y="5029200"/>
            <a:ext cx="1554480" cy="1005840"/>
          </a:xfrm>
          <a:prstGeom prst="rect">
            <a:avLst/>
          </a:prstGeom>
          <a:noFill/>
          <a:ln/>
        </p:spPr>
        <p:txBody>
          <a:bodyPr wrap="square" lIns="0" tIns="0" rIns="0" bIns="0" rtlCol="0" anchor="ctr"/>
          <a:lstStyle/>
          <a:p>
            <a:pPr marL="0" indent="0">
              <a:buNone/>
            </a:pPr>
            <a:r>
              <a:rPr lang="en-US" sz="3000" b="1" dirty="0">
                <a:solidFill>
                  <a:schemeClr val="accent4"/>
                </a:solidFill>
                <a:latin typeface="Cambria" pitchFamily="34" charset="0"/>
                <a:ea typeface="Cambria" pitchFamily="34" charset="-122"/>
                <a:cs typeface="Cambria" pitchFamily="34" charset="-120"/>
              </a:rPr>
              <a:t>13,390</a:t>
            </a:r>
            <a:endParaRPr lang="en-US" sz="3000" dirty="0"/>
          </a:p>
        </p:txBody>
      </p:sp>
      <p:sp>
        <p:nvSpPr>
          <p:cNvPr id="20" name="Text 15"/>
          <p:cNvSpPr txBox="1"/>
          <p:nvPr/>
        </p:nvSpPr>
        <p:spPr>
          <a:xfrm>
            <a:off x="2468880" y="5029200"/>
            <a:ext cx="1737360" cy="1005840"/>
          </a:xfrm>
          <a:prstGeom prst="rect">
            <a:avLst/>
          </a:prstGeom>
          <a:noFill/>
          <a:ln/>
        </p:spPr>
        <p:txBody>
          <a:bodyPr wrap="square" lIns="0" tIns="0" rIns="0" bIns="0" rtlCol="0" anchor="ctr"/>
          <a:lstStyle/>
          <a:p>
            <a:pPr marL="0" indent="0">
              <a:buNone/>
            </a:pPr>
            <a:r>
              <a:rPr lang="en-US" sz="1400" dirty="0">
                <a:solidFill>
                  <a:schemeClr val="bg1"/>
                </a:solidFill>
              </a:rPr>
              <a:t>model-ready records (no rows dropped)</a:t>
            </a:r>
            <a:endParaRPr lang="en-US" sz="1400" dirty="0"/>
          </a:p>
        </p:txBody>
      </p:sp>
      <p:sp>
        <p:nvSpPr>
          <p:cNvPr id="21" name="Text 16"/>
          <p:cNvSpPr txBox="1"/>
          <p:nvPr/>
        </p:nvSpPr>
        <p:spPr>
          <a:xfrm>
            <a:off x="4663440" y="5029200"/>
            <a:ext cx="548640" cy="1005840"/>
          </a:xfrm>
          <a:prstGeom prst="rect">
            <a:avLst/>
          </a:prstGeom>
          <a:noFill/>
          <a:ln/>
        </p:spPr>
        <p:txBody>
          <a:bodyPr wrap="square" lIns="0" tIns="0" rIns="0" bIns="0" rtlCol="0" anchor="ctr"/>
          <a:lstStyle/>
          <a:p>
            <a:pPr marL="0" indent="0">
              <a:buNone/>
            </a:pPr>
            <a:r>
              <a:rPr lang="en-US" sz="3000" b="1" dirty="0">
                <a:solidFill>
                  <a:schemeClr val="accent4"/>
                </a:solidFill>
                <a:latin typeface="Cambria" pitchFamily="34" charset="0"/>
                <a:ea typeface="Cambria" pitchFamily="34" charset="-122"/>
                <a:cs typeface="Cambria" pitchFamily="34" charset="-120"/>
              </a:rPr>
              <a:t>0</a:t>
            </a:r>
            <a:endParaRPr lang="en-US" sz="3000" dirty="0"/>
          </a:p>
        </p:txBody>
      </p:sp>
      <p:sp>
        <p:nvSpPr>
          <p:cNvPr id="22" name="Text 17"/>
          <p:cNvSpPr txBox="1"/>
          <p:nvPr/>
        </p:nvSpPr>
        <p:spPr>
          <a:xfrm>
            <a:off x="5303520" y="5029200"/>
            <a:ext cx="2377440" cy="1005840"/>
          </a:xfrm>
          <a:prstGeom prst="rect">
            <a:avLst/>
          </a:prstGeom>
          <a:noFill/>
          <a:ln/>
        </p:spPr>
        <p:txBody>
          <a:bodyPr wrap="square" lIns="0" tIns="0" rIns="0" bIns="0" rtlCol="0" anchor="ctr"/>
          <a:lstStyle/>
          <a:p>
            <a:pPr marL="0" indent="0">
              <a:buNone/>
            </a:pPr>
            <a:r>
              <a:rPr lang="en-US" sz="1400" dirty="0">
                <a:solidFill>
                  <a:schemeClr val="bg1"/>
                </a:solidFill>
              </a:rPr>
              <a:t>missing values and duplicates in the raw data</a:t>
            </a:r>
            <a:endParaRPr lang="en-US" sz="1400" dirty="0"/>
          </a:p>
        </p:txBody>
      </p:sp>
      <p:sp>
        <p:nvSpPr>
          <p:cNvPr id="23" name="Text 18"/>
          <p:cNvSpPr txBox="1"/>
          <p:nvPr/>
        </p:nvSpPr>
        <p:spPr>
          <a:xfrm>
            <a:off x="8138160" y="5029200"/>
            <a:ext cx="731520" cy="1005840"/>
          </a:xfrm>
          <a:prstGeom prst="rect">
            <a:avLst/>
          </a:prstGeom>
          <a:noFill/>
          <a:ln/>
        </p:spPr>
        <p:txBody>
          <a:bodyPr wrap="square" lIns="0" tIns="0" rIns="0" bIns="0" rtlCol="0" anchor="ctr"/>
          <a:lstStyle/>
          <a:p>
            <a:pPr marL="0" indent="0">
              <a:buNone/>
            </a:pPr>
            <a:r>
              <a:rPr lang="en-US" sz="3000" b="1" dirty="0">
                <a:solidFill>
                  <a:schemeClr val="accent4"/>
                </a:solidFill>
                <a:latin typeface="Cambria" pitchFamily="34" charset="0"/>
                <a:ea typeface="Cambria" pitchFamily="34" charset="-122"/>
                <a:cs typeface="Cambria" pitchFamily="34" charset="-120"/>
              </a:rPr>
              <a:t>36</a:t>
            </a:r>
            <a:endParaRPr lang="en-US" sz="3000" dirty="0"/>
          </a:p>
        </p:txBody>
      </p:sp>
      <p:sp>
        <p:nvSpPr>
          <p:cNvPr id="24" name="Text 19"/>
          <p:cNvSpPr txBox="1"/>
          <p:nvPr/>
        </p:nvSpPr>
        <p:spPr>
          <a:xfrm>
            <a:off x="8961120" y="5029200"/>
            <a:ext cx="2103120" cy="1005840"/>
          </a:xfrm>
          <a:prstGeom prst="rect">
            <a:avLst/>
          </a:prstGeom>
          <a:noFill/>
          <a:ln/>
        </p:spPr>
        <p:txBody>
          <a:bodyPr wrap="square" lIns="0" tIns="0" rIns="0" bIns="0" rtlCol="0" anchor="ctr"/>
          <a:lstStyle/>
          <a:p>
            <a:pPr marL="0" indent="0">
              <a:buNone/>
            </a:pPr>
            <a:r>
              <a:rPr lang="en-US" sz="1400" dirty="0">
                <a:solidFill>
                  <a:schemeClr val="bg1"/>
                </a:solidFill>
              </a:rPr>
              <a:t>input features after feature creation and encoding</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River discharge is right-skewed</a:t>
            </a:r>
            <a:endParaRPr lang="en-US" sz="3400" dirty="0"/>
          </a:p>
        </p:txBody>
      </p:sp>
      <p:sp>
        <p:nvSpPr>
          <p:cNvPr id="3" name="Skew stat 1"/>
          <p:cNvSpPr/>
          <p:nvPr/>
        </p:nvSpPr>
        <p:spPr>
          <a:xfrm>
            <a:off x="548640" y="1508760"/>
            <a:ext cx="2423160" cy="1463040"/>
          </a:xfrm>
          <a:prstGeom prst="roundRect">
            <a:avLst>
              <a:gd name="adj" fmla="val 7500"/>
            </a:avLst>
          </a:prstGeom>
          <a:solidFill>
            <a:schemeClr val="bg2"/>
          </a:solidFill>
          <a:ln/>
          <a:effectLst>
            <a:outerShdw blurRad="101600" dist="25400" dir="5400000" algn="bl" rotWithShape="0">
              <a:srgbClr val="000000">
                <a:alpha val="12000"/>
              </a:srgbClr>
            </a:outerShdw>
          </a:effectLst>
        </p:spPr>
      </p:sp>
      <p:sp>
        <p:nvSpPr>
          <p:cNvPr id="4" name="Text 2"/>
          <p:cNvSpPr txBox="1"/>
          <p:nvPr/>
        </p:nvSpPr>
        <p:spPr>
          <a:xfrm>
            <a:off x="548640" y="1691640"/>
            <a:ext cx="2423160" cy="731520"/>
          </a:xfrm>
          <a:prstGeom prst="rect">
            <a:avLst/>
          </a:prstGeom>
          <a:noFill/>
          <a:ln/>
        </p:spPr>
        <p:txBody>
          <a:bodyPr wrap="square" lIns="0" tIns="0" rIns="0" bIns="0" rtlCol="0" anchor="ctr"/>
          <a:lstStyle/>
          <a:p>
            <a:pPr marL="0" indent="0" algn="ctr">
              <a:buNone/>
            </a:pPr>
            <a:r>
              <a:rPr lang="en-US" sz="3200" b="1" dirty="0">
                <a:solidFill>
                  <a:schemeClr val="accent1"/>
                </a:solidFill>
                <a:latin typeface="Cambria" pitchFamily="34" charset="0"/>
                <a:ea typeface="Cambria" pitchFamily="34" charset="-122"/>
                <a:cs typeface="Cambria" pitchFamily="34" charset="-120"/>
              </a:rPr>
              <a:t>20.37</a:t>
            </a:r>
            <a:endParaRPr lang="en-US" sz="3200" dirty="0"/>
          </a:p>
        </p:txBody>
      </p:sp>
      <p:sp>
        <p:nvSpPr>
          <p:cNvPr id="5" name="Text 3"/>
          <p:cNvSpPr txBox="1"/>
          <p:nvPr/>
        </p:nvSpPr>
        <p:spPr>
          <a:xfrm>
            <a:off x="548640" y="2423160"/>
            <a:ext cx="2423160" cy="365760"/>
          </a:xfrm>
          <a:prstGeom prst="rect">
            <a:avLst/>
          </a:prstGeom>
          <a:noFill/>
          <a:ln/>
        </p:spPr>
        <p:txBody>
          <a:bodyPr wrap="square" lIns="0" tIns="0" rIns="0" bIns="0" rtlCol="0" anchor="t"/>
          <a:lstStyle/>
          <a:p>
            <a:pPr marL="0" indent="0" algn="ctr">
              <a:buNone/>
            </a:pPr>
            <a:r>
              <a:rPr lang="en-US" sz="1400" dirty="0">
                <a:solidFill>
                  <a:schemeClr val="tx1"/>
                </a:solidFill>
              </a:rPr>
              <a:t>Mean (m³/s)</a:t>
            </a:r>
            <a:endParaRPr lang="en-US" sz="1400" dirty="0"/>
          </a:p>
        </p:txBody>
      </p:sp>
      <p:sp>
        <p:nvSpPr>
          <p:cNvPr id="6" name="Skew stat 2"/>
          <p:cNvSpPr/>
          <p:nvPr/>
        </p:nvSpPr>
        <p:spPr>
          <a:xfrm>
            <a:off x="3246120" y="1508760"/>
            <a:ext cx="2423160" cy="1463040"/>
          </a:xfrm>
          <a:prstGeom prst="roundRect">
            <a:avLst>
              <a:gd name="adj" fmla="val 7500"/>
            </a:avLst>
          </a:prstGeom>
          <a:solidFill>
            <a:schemeClr val="bg2"/>
          </a:solidFill>
          <a:ln/>
          <a:effectLst>
            <a:outerShdw blurRad="101600" dist="25400" dir="5400000" algn="bl" rotWithShape="0">
              <a:srgbClr val="000000">
                <a:alpha val="12000"/>
              </a:srgbClr>
            </a:outerShdw>
          </a:effectLst>
        </p:spPr>
      </p:sp>
      <p:sp>
        <p:nvSpPr>
          <p:cNvPr id="7" name="Text 5"/>
          <p:cNvSpPr txBox="1"/>
          <p:nvPr/>
        </p:nvSpPr>
        <p:spPr>
          <a:xfrm>
            <a:off x="3246120" y="1691640"/>
            <a:ext cx="2423160" cy="731520"/>
          </a:xfrm>
          <a:prstGeom prst="rect">
            <a:avLst/>
          </a:prstGeom>
          <a:noFill/>
          <a:ln/>
        </p:spPr>
        <p:txBody>
          <a:bodyPr wrap="square" lIns="0" tIns="0" rIns="0" bIns="0" rtlCol="0" anchor="ctr"/>
          <a:lstStyle/>
          <a:p>
            <a:pPr marL="0" indent="0" algn="ctr">
              <a:buNone/>
            </a:pPr>
            <a:r>
              <a:rPr lang="en-US" sz="3200" b="1" dirty="0">
                <a:solidFill>
                  <a:schemeClr val="accent1"/>
                </a:solidFill>
                <a:latin typeface="Cambria" pitchFamily="34" charset="0"/>
                <a:ea typeface="Cambria" pitchFamily="34" charset="-122"/>
                <a:cs typeface="Cambria" pitchFamily="34" charset="-120"/>
              </a:rPr>
              <a:t>1.88</a:t>
            </a:r>
            <a:endParaRPr lang="en-US" sz="3200" dirty="0"/>
          </a:p>
        </p:txBody>
      </p:sp>
      <p:sp>
        <p:nvSpPr>
          <p:cNvPr id="8" name="Text 6"/>
          <p:cNvSpPr txBox="1"/>
          <p:nvPr/>
        </p:nvSpPr>
        <p:spPr>
          <a:xfrm>
            <a:off x="3246120" y="2423160"/>
            <a:ext cx="2423160" cy="365760"/>
          </a:xfrm>
          <a:prstGeom prst="rect">
            <a:avLst/>
          </a:prstGeom>
          <a:noFill/>
          <a:ln/>
        </p:spPr>
        <p:txBody>
          <a:bodyPr wrap="square" lIns="0" tIns="0" rIns="0" bIns="0" rtlCol="0" anchor="t"/>
          <a:lstStyle/>
          <a:p>
            <a:pPr marL="0" indent="0" algn="ctr">
              <a:buNone/>
            </a:pPr>
            <a:r>
              <a:rPr lang="en-US" sz="1400" dirty="0">
                <a:solidFill>
                  <a:schemeClr val="tx1"/>
                </a:solidFill>
              </a:rPr>
              <a:t>Median (m³/s)</a:t>
            </a:r>
            <a:endParaRPr lang="en-US" sz="1400" dirty="0"/>
          </a:p>
        </p:txBody>
      </p:sp>
      <p:sp>
        <p:nvSpPr>
          <p:cNvPr id="9" name="Skew stat 3"/>
          <p:cNvSpPr/>
          <p:nvPr/>
        </p:nvSpPr>
        <p:spPr>
          <a:xfrm>
            <a:off x="548640" y="3200400"/>
            <a:ext cx="2423160" cy="1463040"/>
          </a:xfrm>
          <a:prstGeom prst="roundRect">
            <a:avLst>
              <a:gd name="adj" fmla="val 7500"/>
            </a:avLst>
          </a:prstGeom>
          <a:solidFill>
            <a:schemeClr val="bg2"/>
          </a:solidFill>
          <a:ln/>
          <a:effectLst>
            <a:outerShdw blurRad="101600" dist="25400" dir="5400000" algn="bl" rotWithShape="0">
              <a:srgbClr val="000000">
                <a:alpha val="12000"/>
              </a:srgbClr>
            </a:outerShdw>
          </a:effectLst>
        </p:spPr>
      </p:sp>
      <p:sp>
        <p:nvSpPr>
          <p:cNvPr id="10" name="Text 8"/>
          <p:cNvSpPr txBox="1"/>
          <p:nvPr/>
        </p:nvSpPr>
        <p:spPr>
          <a:xfrm>
            <a:off x="548640" y="3383280"/>
            <a:ext cx="2423160" cy="731520"/>
          </a:xfrm>
          <a:prstGeom prst="rect">
            <a:avLst/>
          </a:prstGeom>
          <a:noFill/>
          <a:ln/>
        </p:spPr>
        <p:txBody>
          <a:bodyPr wrap="square" lIns="0" tIns="0" rIns="0" bIns="0" rtlCol="0" anchor="ctr"/>
          <a:lstStyle/>
          <a:p>
            <a:pPr marL="0" indent="0" algn="ctr">
              <a:buNone/>
            </a:pPr>
            <a:r>
              <a:rPr lang="en-US" sz="3200" b="1" dirty="0">
                <a:solidFill>
                  <a:schemeClr val="accent1"/>
                </a:solidFill>
                <a:latin typeface="Cambria" pitchFamily="34" charset="0"/>
                <a:ea typeface="Cambria" pitchFamily="34" charset="-122"/>
                <a:cs typeface="Cambria" pitchFamily="34" charset="-120"/>
              </a:rPr>
              <a:t>84.33</a:t>
            </a:r>
            <a:endParaRPr lang="en-US" sz="3200" dirty="0"/>
          </a:p>
        </p:txBody>
      </p:sp>
      <p:sp>
        <p:nvSpPr>
          <p:cNvPr id="11" name="Text 9"/>
          <p:cNvSpPr txBox="1"/>
          <p:nvPr/>
        </p:nvSpPr>
        <p:spPr>
          <a:xfrm>
            <a:off x="548640" y="4114800"/>
            <a:ext cx="2423160" cy="365760"/>
          </a:xfrm>
          <a:prstGeom prst="rect">
            <a:avLst/>
          </a:prstGeom>
          <a:noFill/>
          <a:ln/>
        </p:spPr>
        <p:txBody>
          <a:bodyPr wrap="square" lIns="0" tIns="0" rIns="0" bIns="0" rtlCol="0" anchor="t"/>
          <a:lstStyle/>
          <a:p>
            <a:pPr marL="0" indent="0" algn="ctr">
              <a:buNone/>
            </a:pPr>
            <a:r>
              <a:rPr lang="en-US" sz="1400" dirty="0">
                <a:solidFill>
                  <a:schemeClr val="tx1"/>
                </a:solidFill>
              </a:rPr>
              <a:t>Standard deviation (m³/s)</a:t>
            </a:r>
            <a:endParaRPr lang="en-US" sz="1400" dirty="0"/>
          </a:p>
        </p:txBody>
      </p:sp>
      <p:sp>
        <p:nvSpPr>
          <p:cNvPr id="12" name="Skew stat 4"/>
          <p:cNvSpPr/>
          <p:nvPr/>
        </p:nvSpPr>
        <p:spPr>
          <a:xfrm>
            <a:off x="3246120" y="3200400"/>
            <a:ext cx="2423160" cy="1463040"/>
          </a:xfrm>
          <a:prstGeom prst="roundRect">
            <a:avLst>
              <a:gd name="adj" fmla="val 7500"/>
            </a:avLst>
          </a:prstGeom>
          <a:solidFill>
            <a:schemeClr val="bg2"/>
          </a:solidFill>
          <a:ln/>
          <a:effectLst>
            <a:outerShdw blurRad="101600" dist="25400" dir="5400000" algn="bl" rotWithShape="0">
              <a:srgbClr val="000000">
                <a:alpha val="12000"/>
              </a:srgbClr>
            </a:outerShdw>
          </a:effectLst>
        </p:spPr>
      </p:sp>
      <p:sp>
        <p:nvSpPr>
          <p:cNvPr id="13" name="Text 11"/>
          <p:cNvSpPr txBox="1"/>
          <p:nvPr/>
        </p:nvSpPr>
        <p:spPr>
          <a:xfrm>
            <a:off x="3246120" y="3383280"/>
            <a:ext cx="2423160" cy="731520"/>
          </a:xfrm>
          <a:prstGeom prst="rect">
            <a:avLst/>
          </a:prstGeom>
          <a:noFill/>
          <a:ln/>
        </p:spPr>
        <p:txBody>
          <a:bodyPr wrap="square" lIns="0" tIns="0" rIns="0" bIns="0" rtlCol="0" anchor="ctr"/>
          <a:lstStyle/>
          <a:p>
            <a:pPr marL="0" indent="0" algn="ctr">
              <a:buNone/>
            </a:pPr>
            <a:r>
              <a:rPr lang="en-US" sz="3200" b="1" dirty="0">
                <a:solidFill>
                  <a:schemeClr val="accent3"/>
                </a:solidFill>
                <a:latin typeface="Cambria" pitchFamily="34" charset="0"/>
                <a:ea typeface="Cambria" pitchFamily="34" charset="-122"/>
                <a:cs typeface="Cambria" pitchFamily="34" charset="-120"/>
              </a:rPr>
              <a:t>3,175.87</a:t>
            </a:r>
            <a:endParaRPr lang="en-US" sz="3200" dirty="0"/>
          </a:p>
        </p:txBody>
      </p:sp>
      <p:sp>
        <p:nvSpPr>
          <p:cNvPr id="14" name="Text 12"/>
          <p:cNvSpPr txBox="1"/>
          <p:nvPr/>
        </p:nvSpPr>
        <p:spPr>
          <a:xfrm>
            <a:off x="3246120" y="4114800"/>
            <a:ext cx="2423160" cy="365760"/>
          </a:xfrm>
          <a:prstGeom prst="rect">
            <a:avLst/>
          </a:prstGeom>
          <a:noFill/>
          <a:ln/>
        </p:spPr>
        <p:txBody>
          <a:bodyPr wrap="square" lIns="0" tIns="0" rIns="0" bIns="0" rtlCol="0" anchor="t"/>
          <a:lstStyle/>
          <a:p>
            <a:pPr marL="0" indent="0" algn="ctr">
              <a:buNone/>
            </a:pPr>
            <a:r>
              <a:rPr lang="en-US" sz="1400" dirty="0">
                <a:solidFill>
                  <a:schemeClr val="tx1"/>
                </a:solidFill>
              </a:rPr>
              <a:t>Maximum (m³/s)</a:t>
            </a:r>
            <a:endParaRPr lang="en-US" sz="1400" dirty="0"/>
          </a:p>
        </p:txBody>
      </p:sp>
      <p:sp>
        <p:nvSpPr>
          <p:cNvPr id="15" name="Text 13"/>
          <p:cNvSpPr txBox="1"/>
          <p:nvPr/>
        </p:nvSpPr>
        <p:spPr>
          <a:xfrm>
            <a:off x="548640" y="5029200"/>
            <a:ext cx="5120640" cy="1097280"/>
          </a:xfrm>
          <a:prstGeom prst="rect">
            <a:avLst/>
          </a:prstGeom>
          <a:noFill/>
          <a:ln/>
        </p:spPr>
        <p:txBody>
          <a:bodyPr wrap="square" lIns="0" tIns="0" rIns="0" bIns="0" rtlCol="0" anchor="t"/>
          <a:lstStyle/>
          <a:p>
            <a:pPr marL="0" indent="0">
              <a:buNone/>
            </a:pPr>
            <a:r>
              <a:rPr lang="en-US" sz="1600" dirty="0">
                <a:solidFill>
                  <a:schemeClr val="tx2"/>
                </a:solidFill>
              </a:rPr>
              <a:t>The mean is above the 75th percentile, so a small number of very high values pull the average up. Most observations are low flow.</a:t>
            </a:r>
            <a:endParaRPr lang="en-US" sz="1600" dirty="0"/>
          </a:p>
        </p:txBody>
      </p:sp>
      <p:graphicFrame>
        <p:nvGraphicFramePr>
          <p:cNvPr id="16" name="Chart 0"/>
          <p:cNvGraphicFramePr/>
          <p:nvPr/>
        </p:nvGraphicFramePr>
        <p:xfrm>
          <a:off x="6126480" y="1463040"/>
          <a:ext cx="548640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Discharge differs strongly by station</a:t>
            </a:r>
            <a:endParaRPr lang="en-US" sz="3400" dirty="0"/>
          </a:p>
        </p:txBody>
      </p:sp>
      <p:graphicFrame>
        <p:nvGraphicFramePr>
          <p:cNvPr id="3" name="Chart 0"/>
          <p:cNvGraphicFramePr/>
          <p:nvPr/>
        </p:nvGraphicFramePr>
        <p:xfrm>
          <a:off x="548640" y="1463040"/>
          <a:ext cx="72237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Station insight"/>
          <p:cNvSpPr/>
          <p:nvPr/>
        </p:nvSpPr>
        <p:spPr>
          <a:xfrm>
            <a:off x="8138160" y="1463040"/>
            <a:ext cx="3474720" cy="4663440"/>
          </a:xfrm>
          <a:prstGeom prst="roundRect">
            <a:avLst>
              <a:gd name="adj" fmla="val 3158"/>
            </a:avLst>
          </a:prstGeom>
          <a:solidFill>
            <a:schemeClr val="bg2"/>
          </a:solidFill>
          <a:ln/>
          <a:effectLst>
            <a:outerShdw blurRad="101600" dist="25400" dir="5400000" algn="bl" rotWithShape="0">
              <a:srgbClr val="000000">
                <a:alpha val="12000"/>
              </a:srgbClr>
            </a:outerShdw>
          </a:effectLst>
        </p:spPr>
      </p:sp>
      <p:sp>
        <p:nvSpPr>
          <p:cNvPr id="5" name="Text 2"/>
          <p:cNvSpPr txBox="1"/>
          <p:nvPr/>
        </p:nvSpPr>
        <p:spPr>
          <a:xfrm>
            <a:off x="8138160" y="1783080"/>
            <a:ext cx="3474720" cy="822960"/>
          </a:xfrm>
          <a:prstGeom prst="rect">
            <a:avLst/>
          </a:prstGeom>
          <a:noFill/>
          <a:ln/>
        </p:spPr>
        <p:txBody>
          <a:bodyPr wrap="square" lIns="0" tIns="0" rIns="0" bIns="0" rtlCol="0" anchor="t"/>
          <a:lstStyle/>
          <a:p>
            <a:pPr marL="0" indent="0" algn="ctr">
              <a:buNone/>
            </a:pPr>
            <a:r>
              <a:rPr lang="en-US" sz="4000" b="1" dirty="0">
                <a:solidFill>
                  <a:schemeClr val="accent3"/>
                </a:solidFill>
                <a:latin typeface="Cambria" pitchFamily="34" charset="0"/>
                <a:ea typeface="Cambria" pitchFamily="34" charset="-122"/>
                <a:cs typeface="Cambria" pitchFamily="34" charset="-120"/>
              </a:rPr>
              <a:t>125.81</a:t>
            </a:r>
            <a:endParaRPr lang="en-US" sz="4000" dirty="0"/>
          </a:p>
        </p:txBody>
      </p:sp>
      <p:sp>
        <p:nvSpPr>
          <p:cNvPr id="6" name="Text 3"/>
          <p:cNvSpPr txBox="1"/>
          <p:nvPr/>
        </p:nvSpPr>
        <p:spPr>
          <a:xfrm>
            <a:off x="8412480" y="2651760"/>
            <a:ext cx="2926080" cy="1097280"/>
          </a:xfrm>
          <a:prstGeom prst="rect">
            <a:avLst/>
          </a:prstGeom>
          <a:noFill/>
          <a:ln/>
        </p:spPr>
        <p:txBody>
          <a:bodyPr wrap="square" lIns="0" tIns="0" rIns="0" bIns="0" rtlCol="0" anchor="t"/>
          <a:lstStyle/>
          <a:p>
            <a:pPr marL="0" indent="0" algn="ctr">
              <a:buNone/>
            </a:pPr>
            <a:r>
              <a:rPr lang="en-US" sz="1400" dirty="0">
                <a:solidFill>
                  <a:schemeClr val="tx1"/>
                </a:solidFill>
              </a:rPr>
              <a:t>m³/s average at Kusum (Rapti basin), about 3.8 times Belsot, the next highest</a:t>
            </a:r>
            <a:endParaRPr lang="en-US" sz="1400" dirty="0"/>
          </a:p>
        </p:txBody>
      </p:sp>
      <p:sp>
        <p:nvSpPr>
          <p:cNvPr id="7" name="Text 4"/>
          <p:cNvSpPr txBox="1"/>
          <p:nvPr/>
        </p:nvSpPr>
        <p:spPr>
          <a:xfrm>
            <a:off x="8412480" y="3931920"/>
            <a:ext cx="2926080" cy="914400"/>
          </a:xfrm>
          <a:prstGeom prst="rect">
            <a:avLst/>
          </a:prstGeom>
          <a:noFill/>
          <a:ln/>
        </p:spPr>
        <p:txBody>
          <a:bodyPr wrap="square" lIns="0" tIns="0" rIns="0" bIns="0" rtlCol="0" anchor="t"/>
          <a:lstStyle/>
          <a:p>
            <a:pPr marL="0" indent="0" algn="ctr">
              <a:buNone/>
            </a:pPr>
            <a:r>
              <a:rPr lang="en-US" sz="1400" dirty="0">
                <a:solidFill>
                  <a:schemeClr val="tx1"/>
                </a:solidFill>
              </a:rPr>
              <a:t>Belsot (Kamala) and Chameliya/Nayalbadi (Mahakali) average about 31 to 33 m³/s.</a:t>
            </a:r>
            <a:endParaRPr lang="en-US" sz="1400" dirty="0"/>
          </a:p>
        </p:txBody>
      </p:sp>
      <p:sp>
        <p:nvSpPr>
          <p:cNvPr id="8" name="Text 5"/>
          <p:cNvSpPr txBox="1"/>
          <p:nvPr/>
        </p:nvSpPr>
        <p:spPr>
          <a:xfrm>
            <a:off x="8412480" y="5029200"/>
            <a:ext cx="2926080" cy="822960"/>
          </a:xfrm>
          <a:prstGeom prst="rect">
            <a:avLst/>
          </a:prstGeom>
          <a:noFill/>
          <a:ln/>
        </p:spPr>
        <p:txBody>
          <a:bodyPr wrap="square" lIns="0" tIns="0" rIns="0" bIns="0" rtlCol="0" anchor="t"/>
          <a:lstStyle/>
          <a:p>
            <a:pPr marL="0" indent="0" algn="ctr">
              <a:buNone/>
            </a:pPr>
            <a:r>
              <a:rPr lang="en-US" sz="1400" dirty="0">
                <a:solidFill>
                  <a:schemeClr val="tx1"/>
                </a:solidFill>
              </a:rPr>
              <a:t>Bhada Bridge is lowest at 0.70 m³/s. Averages cover the whole period.</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Highest discharge in July to September</a:t>
            </a:r>
            <a:endParaRPr lang="en-US" sz="3400" dirty="0"/>
          </a:p>
        </p:txBody>
      </p:sp>
      <p:graphicFrame>
        <p:nvGraphicFramePr>
          <p:cNvPr id="3" name="Chart 0"/>
          <p:cNvGraphicFramePr/>
          <p:nvPr/>
        </p:nvGraphicFramePr>
        <p:xfrm>
          <a:off x="548640" y="1463040"/>
          <a:ext cx="777240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Season stat 1"/>
          <p:cNvSpPr/>
          <p:nvPr/>
        </p:nvSpPr>
        <p:spPr>
          <a:xfrm>
            <a:off x="8686800" y="1463040"/>
            <a:ext cx="292608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5" name="Text 2"/>
          <p:cNvSpPr txBox="1"/>
          <p:nvPr/>
        </p:nvSpPr>
        <p:spPr>
          <a:xfrm>
            <a:off x="8686800" y="1600200"/>
            <a:ext cx="2926080" cy="685800"/>
          </a:xfrm>
          <a:prstGeom prst="rect">
            <a:avLst/>
          </a:prstGeom>
          <a:noFill/>
          <a:ln/>
        </p:spPr>
        <p:txBody>
          <a:bodyPr wrap="square" lIns="0" tIns="0" rIns="0" bIns="0" rtlCol="0" anchor="ctr"/>
          <a:lstStyle/>
          <a:p>
            <a:pPr marL="0" indent="0" algn="ctr">
              <a:buNone/>
            </a:pPr>
            <a:r>
              <a:rPr lang="en-US" sz="3200" b="1" dirty="0">
                <a:solidFill>
                  <a:schemeClr val="accent3"/>
                </a:solidFill>
                <a:latin typeface="Cambria" pitchFamily="34" charset="0"/>
                <a:ea typeface="Cambria" pitchFamily="34" charset="-122"/>
                <a:cs typeface="Cambria" pitchFamily="34" charset="-120"/>
              </a:rPr>
              <a:t>72.46</a:t>
            </a:r>
            <a:endParaRPr lang="en-US" sz="3200" dirty="0"/>
          </a:p>
        </p:txBody>
      </p:sp>
      <p:sp>
        <p:nvSpPr>
          <p:cNvPr id="6" name="Text 3"/>
          <p:cNvSpPr txBox="1"/>
          <p:nvPr/>
        </p:nvSpPr>
        <p:spPr>
          <a:xfrm>
            <a:off x="8869680" y="2331720"/>
            <a:ext cx="2560320" cy="502920"/>
          </a:xfrm>
          <a:prstGeom prst="rect">
            <a:avLst/>
          </a:prstGeom>
          <a:noFill/>
          <a:ln/>
        </p:spPr>
        <p:txBody>
          <a:bodyPr wrap="square" lIns="0" tIns="0" rIns="0" bIns="0" rtlCol="0" anchor="t"/>
          <a:lstStyle/>
          <a:p>
            <a:pPr marL="0" indent="0" algn="ctr">
              <a:buNone/>
            </a:pPr>
            <a:r>
              <a:rPr lang="en-US" sz="1400" dirty="0">
                <a:solidFill>
                  <a:schemeClr val="tx1"/>
                </a:solidFill>
              </a:rPr>
              <a:t>Highest: August (m³/s)</a:t>
            </a:r>
            <a:endParaRPr lang="en-US" sz="1400" dirty="0"/>
          </a:p>
        </p:txBody>
      </p:sp>
      <p:sp>
        <p:nvSpPr>
          <p:cNvPr id="7" name="Season stat 2"/>
          <p:cNvSpPr/>
          <p:nvPr/>
        </p:nvSpPr>
        <p:spPr>
          <a:xfrm>
            <a:off x="8686800" y="3063240"/>
            <a:ext cx="292608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8" name="Text 5"/>
          <p:cNvSpPr txBox="1"/>
          <p:nvPr/>
        </p:nvSpPr>
        <p:spPr>
          <a:xfrm>
            <a:off x="8686800" y="3200400"/>
            <a:ext cx="2926080" cy="685800"/>
          </a:xfrm>
          <a:prstGeom prst="rect">
            <a:avLst/>
          </a:prstGeom>
          <a:noFill/>
          <a:ln/>
        </p:spPr>
        <p:txBody>
          <a:bodyPr wrap="square" lIns="0" tIns="0" rIns="0" bIns="0" rtlCol="0" anchor="ctr"/>
          <a:lstStyle/>
          <a:p>
            <a:pPr marL="0" indent="0" algn="ctr">
              <a:buNone/>
            </a:pPr>
            <a:r>
              <a:rPr lang="en-US" sz="2600" b="1" dirty="0">
                <a:solidFill>
                  <a:schemeClr val="accent1"/>
                </a:solidFill>
                <a:latin typeface="Cambria" pitchFamily="34" charset="0"/>
                <a:ea typeface="Cambria" pitchFamily="34" charset="-122"/>
                <a:cs typeface="Cambria" pitchFamily="34" charset="-120"/>
              </a:rPr>
              <a:t>Jul to Sep</a:t>
            </a:r>
            <a:endParaRPr lang="en-US" sz="2600" dirty="0"/>
          </a:p>
        </p:txBody>
      </p:sp>
      <p:sp>
        <p:nvSpPr>
          <p:cNvPr id="9" name="Text 6"/>
          <p:cNvSpPr txBox="1"/>
          <p:nvPr/>
        </p:nvSpPr>
        <p:spPr>
          <a:xfrm>
            <a:off x="8869680" y="3931920"/>
            <a:ext cx="2560320" cy="502920"/>
          </a:xfrm>
          <a:prstGeom prst="rect">
            <a:avLst/>
          </a:prstGeom>
          <a:noFill/>
          <a:ln/>
        </p:spPr>
        <p:txBody>
          <a:bodyPr wrap="square" lIns="0" tIns="0" rIns="0" bIns="0" rtlCol="0" anchor="t"/>
          <a:lstStyle/>
          <a:p>
            <a:pPr marL="0" indent="0" algn="ctr">
              <a:buNone/>
            </a:pPr>
            <a:r>
              <a:rPr lang="en-US" sz="1400" dirty="0">
                <a:solidFill>
                  <a:schemeClr val="tx1"/>
                </a:solidFill>
              </a:rPr>
              <a:t>Highest months, matching Nepal's monsoon season</a:t>
            </a:r>
            <a:endParaRPr lang="en-US" sz="1400" dirty="0"/>
          </a:p>
        </p:txBody>
      </p:sp>
      <p:sp>
        <p:nvSpPr>
          <p:cNvPr id="10" name="Season stat 3"/>
          <p:cNvSpPr/>
          <p:nvPr/>
        </p:nvSpPr>
        <p:spPr>
          <a:xfrm>
            <a:off x="8686800" y="4663440"/>
            <a:ext cx="292608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11" name="Text 8"/>
          <p:cNvSpPr txBox="1"/>
          <p:nvPr/>
        </p:nvSpPr>
        <p:spPr>
          <a:xfrm>
            <a:off x="8686800" y="4800600"/>
            <a:ext cx="2926080" cy="685800"/>
          </a:xfrm>
          <a:prstGeom prst="rect">
            <a:avLst/>
          </a:prstGeom>
          <a:noFill/>
          <a:ln/>
        </p:spPr>
        <p:txBody>
          <a:bodyPr wrap="square" lIns="0" tIns="0" rIns="0" bIns="0" rtlCol="0" anchor="ctr"/>
          <a:lstStyle/>
          <a:p>
            <a:pPr marL="0" indent="0" algn="ctr">
              <a:buNone/>
            </a:pPr>
            <a:r>
              <a:rPr lang="en-US" sz="3200" b="1" dirty="0">
                <a:solidFill>
                  <a:schemeClr val="accent2"/>
                </a:solidFill>
                <a:latin typeface="Cambria" pitchFamily="34" charset="0"/>
                <a:ea typeface="Cambria" pitchFamily="34" charset="-122"/>
                <a:cs typeface="Cambria" pitchFamily="34" charset="-120"/>
              </a:rPr>
              <a:t>3.20</a:t>
            </a:r>
            <a:endParaRPr lang="en-US" sz="3200" dirty="0"/>
          </a:p>
        </p:txBody>
      </p:sp>
      <p:sp>
        <p:nvSpPr>
          <p:cNvPr id="12" name="Text 9"/>
          <p:cNvSpPr txBox="1"/>
          <p:nvPr/>
        </p:nvSpPr>
        <p:spPr>
          <a:xfrm>
            <a:off x="8869680" y="5532120"/>
            <a:ext cx="2560320" cy="502920"/>
          </a:xfrm>
          <a:prstGeom prst="rect">
            <a:avLst/>
          </a:prstGeom>
          <a:noFill/>
          <a:ln/>
        </p:spPr>
        <p:txBody>
          <a:bodyPr wrap="square" lIns="0" tIns="0" rIns="0" bIns="0" rtlCol="0" anchor="t"/>
          <a:lstStyle/>
          <a:p>
            <a:pPr marL="0" indent="0" algn="ctr">
              <a:buNone/>
            </a:pPr>
            <a:r>
              <a:rPr lang="en-US" sz="1400" dirty="0">
                <a:solidFill>
                  <a:schemeClr val="tx1"/>
                </a:solidFill>
              </a:rPr>
              <a:t>Lowest: April (m³/s)</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Same-day weather correlations are weak</a:t>
            </a:r>
            <a:endParaRPr lang="en-US" sz="3400" dirty="0"/>
          </a:p>
        </p:txBody>
      </p:sp>
      <p:graphicFrame>
        <p:nvGraphicFramePr>
          <p:cNvPr id="3" name="Chart 0"/>
          <p:cNvGraphicFramePr/>
          <p:nvPr/>
        </p:nvGraphicFramePr>
        <p:xfrm>
          <a:off x="548640" y="1463040"/>
          <a:ext cx="72237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Correlation insight"/>
          <p:cNvSpPr/>
          <p:nvPr/>
        </p:nvSpPr>
        <p:spPr>
          <a:xfrm>
            <a:off x="8138160" y="1463040"/>
            <a:ext cx="3474720" cy="4663440"/>
          </a:xfrm>
          <a:prstGeom prst="roundRect">
            <a:avLst>
              <a:gd name="adj" fmla="val 3158"/>
            </a:avLst>
          </a:prstGeom>
          <a:solidFill>
            <a:schemeClr val="bg2"/>
          </a:solidFill>
          <a:ln/>
          <a:effectLst>
            <a:outerShdw blurRad="101600" dist="25400" dir="5400000" algn="bl" rotWithShape="0">
              <a:srgbClr val="000000">
                <a:alpha val="12000"/>
              </a:srgbClr>
            </a:outerShdw>
          </a:effectLst>
        </p:spPr>
      </p:sp>
      <p:sp>
        <p:nvSpPr>
          <p:cNvPr id="5" name="Dew point badge"/>
          <p:cNvSpPr/>
          <p:nvPr/>
        </p:nvSpPr>
        <p:spPr>
          <a:xfrm>
            <a:off x="9555480" y="1737360"/>
            <a:ext cx="640080" cy="640080"/>
          </a:xfrm>
          <a:prstGeom prst="ellipse">
            <a:avLst/>
          </a:prstGeom>
          <a:solidFill>
            <a:schemeClr val="accent1"/>
          </a:solidFill>
          <a:ln/>
        </p:spPr>
      </p:sp>
      <p:pic>
        <p:nvPicPr>
          <p:cNvPr id="6" name="Dew point icon" descr="preencoded.png"/>
          <p:cNvPicPr>
            <a:picLocks noChangeAspect="1"/>
          </p:cNvPicPr>
          <p:nvPr/>
        </p:nvPicPr>
        <p:blipFill>
          <a:blip r:embed="rId4"/>
          <a:stretch>
            <a:fillRect/>
          </a:stretch>
        </p:blipFill>
        <p:spPr>
          <a:xfrm>
            <a:off x="9728302" y="1910182"/>
            <a:ext cx="294437" cy="294437"/>
          </a:xfrm>
          <a:prstGeom prst="rect">
            <a:avLst/>
          </a:prstGeom>
        </p:spPr>
      </p:pic>
      <p:sp>
        <p:nvSpPr>
          <p:cNvPr id="7" name="Text 3"/>
          <p:cNvSpPr txBox="1"/>
          <p:nvPr/>
        </p:nvSpPr>
        <p:spPr>
          <a:xfrm>
            <a:off x="8412480" y="2560320"/>
            <a:ext cx="2926080" cy="731520"/>
          </a:xfrm>
          <a:prstGeom prst="rect">
            <a:avLst/>
          </a:prstGeom>
          <a:noFill/>
          <a:ln/>
        </p:spPr>
        <p:txBody>
          <a:bodyPr wrap="square" lIns="0" tIns="0" rIns="0" bIns="0" rtlCol="0" anchor="t"/>
          <a:lstStyle/>
          <a:p>
            <a:pPr marL="0" indent="0" algn="ctr">
              <a:buNone/>
            </a:pPr>
            <a:r>
              <a:rPr lang="en-US" sz="1600" b="1" dirty="0">
                <a:solidFill>
                  <a:schemeClr val="tx2"/>
                </a:solidFill>
              </a:rPr>
              <a:t>Strongest: dew point, r = 0.226</a:t>
            </a:r>
            <a:endParaRPr lang="en-US" sz="1600" dirty="0"/>
          </a:p>
        </p:txBody>
      </p:sp>
      <p:sp>
        <p:nvSpPr>
          <p:cNvPr id="8" name="Text 4"/>
          <p:cNvSpPr txBox="1"/>
          <p:nvPr/>
        </p:nvSpPr>
        <p:spPr>
          <a:xfrm>
            <a:off x="8412480" y="3383280"/>
            <a:ext cx="2926080" cy="1097280"/>
          </a:xfrm>
          <a:prstGeom prst="rect">
            <a:avLst/>
          </a:prstGeom>
          <a:noFill/>
          <a:ln/>
        </p:spPr>
        <p:txBody>
          <a:bodyPr wrap="square" lIns="0" tIns="0" rIns="0" bIns="0" rtlCol="0" anchor="t"/>
          <a:lstStyle/>
          <a:p>
            <a:pPr marL="0" indent="0" algn="ctr">
              <a:buNone/>
            </a:pPr>
            <a:r>
              <a:rPr lang="en-US" sz="1400" dirty="0">
                <a:solidFill>
                  <a:schemeClr val="tx1"/>
                </a:solidFill>
              </a:rPr>
              <a:t>Weather variables showed relatively weak same-day linear correlations with discharge.</a:t>
            </a:r>
            <a:endParaRPr lang="en-US" sz="1400" dirty="0"/>
          </a:p>
        </p:txBody>
      </p:sp>
      <p:sp>
        <p:nvSpPr>
          <p:cNvPr id="9" name="Text 5"/>
          <p:cNvSpPr txBox="1"/>
          <p:nvPr/>
        </p:nvSpPr>
        <p:spPr>
          <a:xfrm>
            <a:off x="8412480" y="4572000"/>
            <a:ext cx="2926080" cy="1097280"/>
          </a:xfrm>
          <a:prstGeom prst="rect">
            <a:avLst/>
          </a:prstGeom>
          <a:noFill/>
          <a:ln/>
        </p:spPr>
        <p:txBody>
          <a:bodyPr wrap="square" lIns="0" tIns="0" rIns="0" bIns="0" rtlCol="0" anchor="t"/>
          <a:lstStyle/>
          <a:p>
            <a:pPr marL="0" indent="0" algn="ctr">
              <a:buNone/>
            </a:pPr>
            <a:r>
              <a:rPr lang="en-US" sz="1400" dirty="0">
                <a:solidFill>
                  <a:schemeClr val="tx1"/>
                </a:solidFill>
              </a:rPr>
              <a:t>Historical and rolling features were included to capture temporal information.</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Feature engineering</a:t>
            </a:r>
            <a:endParaRPr lang="en-US" sz="3400" dirty="0"/>
          </a:p>
        </p:txBody>
      </p:sp>
      <p:sp>
        <p:nvSpPr>
          <p:cNvPr id="3" name="Feature 1"/>
          <p:cNvSpPr/>
          <p:nvPr/>
        </p:nvSpPr>
        <p:spPr>
          <a:xfrm>
            <a:off x="548640" y="1463040"/>
            <a:ext cx="301752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4" name="Feature 1 badge"/>
          <p:cNvSpPr/>
          <p:nvPr/>
        </p:nvSpPr>
        <p:spPr>
          <a:xfrm>
            <a:off x="777240" y="1828800"/>
            <a:ext cx="640080" cy="640080"/>
          </a:xfrm>
          <a:prstGeom prst="ellipse">
            <a:avLst/>
          </a:prstGeom>
          <a:solidFill>
            <a:schemeClr val="accent1"/>
          </a:solidFill>
          <a:ln/>
        </p:spPr>
      </p:sp>
      <p:pic>
        <p:nvPicPr>
          <p:cNvPr id="5" name="Feature 1 icon" descr="preencoded.png"/>
          <p:cNvPicPr>
            <a:picLocks noChangeAspect="1"/>
          </p:cNvPicPr>
          <p:nvPr/>
        </p:nvPicPr>
        <p:blipFill>
          <a:blip r:embed="rId3"/>
          <a:stretch>
            <a:fillRect/>
          </a:stretch>
        </p:blipFill>
        <p:spPr>
          <a:xfrm>
            <a:off x="950062" y="2001622"/>
            <a:ext cx="294437" cy="294437"/>
          </a:xfrm>
          <a:prstGeom prst="rect">
            <a:avLst/>
          </a:prstGeom>
        </p:spPr>
      </p:pic>
      <p:sp>
        <p:nvSpPr>
          <p:cNvPr id="6" name="Text 3"/>
          <p:cNvSpPr txBox="1"/>
          <p:nvPr/>
        </p:nvSpPr>
        <p:spPr>
          <a:xfrm>
            <a:off x="1600200" y="1737360"/>
            <a:ext cx="1874520" cy="365760"/>
          </a:xfrm>
          <a:prstGeom prst="rect">
            <a:avLst/>
          </a:prstGeom>
          <a:noFill/>
          <a:ln/>
        </p:spPr>
        <p:txBody>
          <a:bodyPr wrap="square" lIns="0" tIns="0" rIns="0" bIns="0" rtlCol="0" anchor="t"/>
          <a:lstStyle/>
          <a:p>
            <a:pPr marL="0" indent="0">
              <a:buNone/>
            </a:pPr>
            <a:r>
              <a:rPr lang="en-US" sz="1600" b="1" dirty="0">
                <a:solidFill>
                  <a:schemeClr val="tx2"/>
                </a:solidFill>
              </a:rPr>
              <a:t>Rain lags</a:t>
            </a:r>
            <a:endParaRPr lang="en-US" sz="1600" dirty="0"/>
          </a:p>
        </p:txBody>
      </p:sp>
      <p:sp>
        <p:nvSpPr>
          <p:cNvPr id="7" name="Text 4"/>
          <p:cNvSpPr txBox="1"/>
          <p:nvPr/>
        </p:nvSpPr>
        <p:spPr>
          <a:xfrm>
            <a:off x="1600200" y="2148840"/>
            <a:ext cx="1874520" cy="640080"/>
          </a:xfrm>
          <a:prstGeom prst="rect">
            <a:avLst/>
          </a:prstGeom>
          <a:noFill/>
          <a:ln/>
        </p:spPr>
        <p:txBody>
          <a:bodyPr wrap="square" lIns="0" tIns="0" rIns="0" bIns="0" rtlCol="0" anchor="t"/>
          <a:lstStyle/>
          <a:p>
            <a:pPr marL="0" indent="0">
              <a:buNone/>
            </a:pPr>
            <a:r>
              <a:rPr lang="en-US" sz="1400" dirty="0">
                <a:solidFill>
                  <a:schemeClr val="tx1"/>
                </a:solidFill>
              </a:rPr>
              <a:t>Rain 1, 2 and 3 days earlier</a:t>
            </a:r>
            <a:endParaRPr lang="en-US" sz="1400" dirty="0"/>
          </a:p>
        </p:txBody>
      </p:sp>
      <p:sp>
        <p:nvSpPr>
          <p:cNvPr id="8" name="Feature 2"/>
          <p:cNvSpPr/>
          <p:nvPr/>
        </p:nvSpPr>
        <p:spPr>
          <a:xfrm>
            <a:off x="3794760" y="1463040"/>
            <a:ext cx="301752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9" name="Feature 2 badge"/>
          <p:cNvSpPr/>
          <p:nvPr/>
        </p:nvSpPr>
        <p:spPr>
          <a:xfrm>
            <a:off x="4023360" y="1828800"/>
            <a:ext cx="640080" cy="640080"/>
          </a:xfrm>
          <a:prstGeom prst="ellipse">
            <a:avLst/>
          </a:prstGeom>
          <a:solidFill>
            <a:schemeClr val="accent1"/>
          </a:solidFill>
          <a:ln/>
        </p:spPr>
      </p:sp>
      <p:pic>
        <p:nvPicPr>
          <p:cNvPr id="10" name="Feature 2 icon" descr="preencoded.png"/>
          <p:cNvPicPr>
            <a:picLocks noChangeAspect="1"/>
          </p:cNvPicPr>
          <p:nvPr/>
        </p:nvPicPr>
        <p:blipFill>
          <a:blip r:embed="rId4"/>
          <a:stretch>
            <a:fillRect/>
          </a:stretch>
        </p:blipFill>
        <p:spPr>
          <a:xfrm>
            <a:off x="4196182" y="2001622"/>
            <a:ext cx="294437" cy="294437"/>
          </a:xfrm>
          <a:prstGeom prst="rect">
            <a:avLst/>
          </a:prstGeom>
        </p:spPr>
      </p:pic>
      <p:sp>
        <p:nvSpPr>
          <p:cNvPr id="11" name="Text 7"/>
          <p:cNvSpPr txBox="1"/>
          <p:nvPr/>
        </p:nvSpPr>
        <p:spPr>
          <a:xfrm>
            <a:off x="4846320" y="1737360"/>
            <a:ext cx="1874520" cy="365760"/>
          </a:xfrm>
          <a:prstGeom prst="rect">
            <a:avLst/>
          </a:prstGeom>
          <a:noFill/>
          <a:ln/>
        </p:spPr>
        <p:txBody>
          <a:bodyPr wrap="square" lIns="0" tIns="0" rIns="0" bIns="0" rtlCol="0" anchor="t"/>
          <a:lstStyle/>
          <a:p>
            <a:pPr marL="0" indent="0">
              <a:buNone/>
            </a:pPr>
            <a:r>
              <a:rPr lang="en-US" sz="1600" b="1" dirty="0">
                <a:solidFill>
                  <a:schemeClr val="tx2"/>
                </a:solidFill>
              </a:rPr>
              <a:t>Rolling rainfall</a:t>
            </a:r>
            <a:endParaRPr lang="en-US" sz="1600" dirty="0"/>
          </a:p>
        </p:txBody>
      </p:sp>
      <p:sp>
        <p:nvSpPr>
          <p:cNvPr id="12" name="Text 8"/>
          <p:cNvSpPr txBox="1"/>
          <p:nvPr/>
        </p:nvSpPr>
        <p:spPr>
          <a:xfrm>
            <a:off x="4846320" y="2148840"/>
            <a:ext cx="1874520" cy="640080"/>
          </a:xfrm>
          <a:prstGeom prst="rect">
            <a:avLst/>
          </a:prstGeom>
          <a:noFill/>
          <a:ln/>
        </p:spPr>
        <p:txBody>
          <a:bodyPr wrap="square" lIns="0" tIns="0" rIns="0" bIns="0" rtlCol="0" anchor="t"/>
          <a:lstStyle/>
          <a:p>
            <a:pPr marL="0" indent="0">
              <a:buNone/>
            </a:pPr>
            <a:r>
              <a:rPr lang="en-US" sz="1400" dirty="0">
                <a:solidFill>
                  <a:schemeClr val="tx1"/>
                </a:solidFill>
              </a:rPr>
              <a:t>3-day and 7-day averages</a:t>
            </a:r>
            <a:endParaRPr lang="en-US" sz="1400" dirty="0"/>
          </a:p>
        </p:txBody>
      </p:sp>
      <p:sp>
        <p:nvSpPr>
          <p:cNvPr id="13" name="Feature 3"/>
          <p:cNvSpPr/>
          <p:nvPr/>
        </p:nvSpPr>
        <p:spPr>
          <a:xfrm>
            <a:off x="548640" y="3063240"/>
            <a:ext cx="301752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14" name="Feature 3 badge"/>
          <p:cNvSpPr/>
          <p:nvPr/>
        </p:nvSpPr>
        <p:spPr>
          <a:xfrm>
            <a:off x="777240" y="3429000"/>
            <a:ext cx="640080" cy="640080"/>
          </a:xfrm>
          <a:prstGeom prst="ellipse">
            <a:avLst/>
          </a:prstGeom>
          <a:solidFill>
            <a:schemeClr val="accent1"/>
          </a:solidFill>
          <a:ln/>
        </p:spPr>
      </p:sp>
      <p:pic>
        <p:nvPicPr>
          <p:cNvPr id="15" name="Feature 3 icon" descr="preencoded.png"/>
          <p:cNvPicPr>
            <a:picLocks noChangeAspect="1"/>
          </p:cNvPicPr>
          <p:nvPr/>
        </p:nvPicPr>
        <p:blipFill>
          <a:blip r:embed="rId5"/>
          <a:stretch>
            <a:fillRect/>
          </a:stretch>
        </p:blipFill>
        <p:spPr>
          <a:xfrm>
            <a:off x="950062" y="3601822"/>
            <a:ext cx="294437" cy="294437"/>
          </a:xfrm>
          <a:prstGeom prst="rect">
            <a:avLst/>
          </a:prstGeom>
        </p:spPr>
      </p:pic>
      <p:sp>
        <p:nvSpPr>
          <p:cNvPr id="16" name="Text 11"/>
          <p:cNvSpPr txBox="1"/>
          <p:nvPr/>
        </p:nvSpPr>
        <p:spPr>
          <a:xfrm>
            <a:off x="1600200" y="3337560"/>
            <a:ext cx="1874520" cy="365760"/>
          </a:xfrm>
          <a:prstGeom prst="rect">
            <a:avLst/>
          </a:prstGeom>
          <a:noFill/>
          <a:ln/>
        </p:spPr>
        <p:txBody>
          <a:bodyPr wrap="square" lIns="0" tIns="0" rIns="0" bIns="0" rtlCol="0" anchor="t"/>
          <a:lstStyle/>
          <a:p>
            <a:pPr marL="0" indent="0">
              <a:buNone/>
            </a:pPr>
            <a:r>
              <a:rPr lang="en-US" sz="1600" b="1" dirty="0">
                <a:solidFill>
                  <a:schemeClr val="tx2"/>
                </a:solidFill>
              </a:rPr>
              <a:t>Discharge lags</a:t>
            </a:r>
            <a:endParaRPr lang="en-US" sz="1600" dirty="0"/>
          </a:p>
        </p:txBody>
      </p:sp>
      <p:sp>
        <p:nvSpPr>
          <p:cNvPr id="17" name="Text 12"/>
          <p:cNvSpPr txBox="1"/>
          <p:nvPr/>
        </p:nvSpPr>
        <p:spPr>
          <a:xfrm>
            <a:off x="1600200" y="3749040"/>
            <a:ext cx="1874520" cy="640080"/>
          </a:xfrm>
          <a:prstGeom prst="rect">
            <a:avLst/>
          </a:prstGeom>
          <a:noFill/>
          <a:ln/>
        </p:spPr>
        <p:txBody>
          <a:bodyPr wrap="square" lIns="0" tIns="0" rIns="0" bIns="0" rtlCol="0" anchor="t"/>
          <a:lstStyle/>
          <a:p>
            <a:pPr marL="0" indent="0">
              <a:buNone/>
            </a:pPr>
            <a:r>
              <a:rPr lang="en-US" sz="1400" dirty="0">
                <a:solidFill>
                  <a:schemeClr val="tx1"/>
                </a:solidFill>
              </a:rPr>
              <a:t>Discharge 1, 2 and 3 days earlier</a:t>
            </a:r>
            <a:endParaRPr lang="en-US" sz="1400" dirty="0"/>
          </a:p>
        </p:txBody>
      </p:sp>
      <p:sp>
        <p:nvSpPr>
          <p:cNvPr id="18" name="Feature 4"/>
          <p:cNvSpPr/>
          <p:nvPr/>
        </p:nvSpPr>
        <p:spPr>
          <a:xfrm>
            <a:off x="3794760" y="3063240"/>
            <a:ext cx="301752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19" name="Feature 4 badge"/>
          <p:cNvSpPr/>
          <p:nvPr/>
        </p:nvSpPr>
        <p:spPr>
          <a:xfrm>
            <a:off x="4023360" y="3429000"/>
            <a:ext cx="640080" cy="640080"/>
          </a:xfrm>
          <a:prstGeom prst="ellipse">
            <a:avLst/>
          </a:prstGeom>
          <a:solidFill>
            <a:schemeClr val="accent1"/>
          </a:solidFill>
          <a:ln/>
        </p:spPr>
      </p:sp>
      <p:pic>
        <p:nvPicPr>
          <p:cNvPr id="20" name="Feature 4 icon" descr="preencoded.png"/>
          <p:cNvPicPr>
            <a:picLocks noChangeAspect="1"/>
          </p:cNvPicPr>
          <p:nvPr/>
        </p:nvPicPr>
        <p:blipFill>
          <a:blip r:embed="rId6"/>
          <a:stretch>
            <a:fillRect/>
          </a:stretch>
        </p:blipFill>
        <p:spPr>
          <a:xfrm>
            <a:off x="4196182" y="3601822"/>
            <a:ext cx="294437" cy="294437"/>
          </a:xfrm>
          <a:prstGeom prst="rect">
            <a:avLst/>
          </a:prstGeom>
        </p:spPr>
      </p:pic>
      <p:sp>
        <p:nvSpPr>
          <p:cNvPr id="21" name="Text 15"/>
          <p:cNvSpPr txBox="1"/>
          <p:nvPr/>
        </p:nvSpPr>
        <p:spPr>
          <a:xfrm>
            <a:off x="4846320" y="3337560"/>
            <a:ext cx="1874520" cy="365760"/>
          </a:xfrm>
          <a:prstGeom prst="rect">
            <a:avLst/>
          </a:prstGeom>
          <a:noFill/>
          <a:ln/>
        </p:spPr>
        <p:txBody>
          <a:bodyPr wrap="square" lIns="0" tIns="0" rIns="0" bIns="0" rtlCol="0" anchor="t"/>
          <a:lstStyle/>
          <a:p>
            <a:pPr marL="0" indent="0">
              <a:buNone/>
            </a:pPr>
            <a:r>
              <a:rPr lang="en-US" sz="1600" b="1" dirty="0">
                <a:solidFill>
                  <a:schemeClr val="tx2"/>
                </a:solidFill>
              </a:rPr>
              <a:t>Date features</a:t>
            </a:r>
            <a:endParaRPr lang="en-US" sz="1600" dirty="0"/>
          </a:p>
        </p:txBody>
      </p:sp>
      <p:sp>
        <p:nvSpPr>
          <p:cNvPr id="22" name="Text 16"/>
          <p:cNvSpPr txBox="1"/>
          <p:nvPr/>
        </p:nvSpPr>
        <p:spPr>
          <a:xfrm>
            <a:off x="4846320" y="3749040"/>
            <a:ext cx="1874520" cy="640080"/>
          </a:xfrm>
          <a:prstGeom prst="rect">
            <a:avLst/>
          </a:prstGeom>
          <a:noFill/>
          <a:ln/>
        </p:spPr>
        <p:txBody>
          <a:bodyPr wrap="square" lIns="0" tIns="0" rIns="0" bIns="0" rtlCol="0" anchor="t"/>
          <a:lstStyle/>
          <a:p>
            <a:pPr marL="0" indent="0">
              <a:buNone/>
            </a:pPr>
            <a:r>
              <a:rPr lang="en-US" sz="1400" dirty="0">
                <a:solidFill>
                  <a:schemeClr val="tx1"/>
                </a:solidFill>
              </a:rPr>
              <a:t>Year, month and day</a:t>
            </a:r>
            <a:endParaRPr lang="en-US" sz="1400" dirty="0"/>
          </a:p>
        </p:txBody>
      </p:sp>
      <p:sp>
        <p:nvSpPr>
          <p:cNvPr id="23" name="Feature 5"/>
          <p:cNvSpPr/>
          <p:nvPr/>
        </p:nvSpPr>
        <p:spPr>
          <a:xfrm>
            <a:off x="548640" y="4663440"/>
            <a:ext cx="301752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24" name="Feature 5 badge"/>
          <p:cNvSpPr/>
          <p:nvPr/>
        </p:nvSpPr>
        <p:spPr>
          <a:xfrm>
            <a:off x="777240" y="5029200"/>
            <a:ext cx="640080" cy="640080"/>
          </a:xfrm>
          <a:prstGeom prst="ellipse">
            <a:avLst/>
          </a:prstGeom>
          <a:solidFill>
            <a:schemeClr val="accent1"/>
          </a:solidFill>
          <a:ln/>
        </p:spPr>
      </p:sp>
      <p:pic>
        <p:nvPicPr>
          <p:cNvPr id="25" name="Feature 5 icon" descr="preencoded.png"/>
          <p:cNvPicPr>
            <a:picLocks noChangeAspect="1"/>
          </p:cNvPicPr>
          <p:nvPr/>
        </p:nvPicPr>
        <p:blipFill>
          <a:blip r:embed="rId7"/>
          <a:stretch>
            <a:fillRect/>
          </a:stretch>
        </p:blipFill>
        <p:spPr>
          <a:xfrm>
            <a:off x="950062" y="5202022"/>
            <a:ext cx="294437" cy="294437"/>
          </a:xfrm>
          <a:prstGeom prst="rect">
            <a:avLst/>
          </a:prstGeom>
        </p:spPr>
      </p:pic>
      <p:sp>
        <p:nvSpPr>
          <p:cNvPr id="26" name="Text 19"/>
          <p:cNvSpPr txBox="1"/>
          <p:nvPr/>
        </p:nvSpPr>
        <p:spPr>
          <a:xfrm>
            <a:off x="1600200" y="4937760"/>
            <a:ext cx="1874520" cy="365760"/>
          </a:xfrm>
          <a:prstGeom prst="rect">
            <a:avLst/>
          </a:prstGeom>
          <a:noFill/>
          <a:ln/>
        </p:spPr>
        <p:txBody>
          <a:bodyPr wrap="square" lIns="0" tIns="0" rIns="0" bIns="0" rtlCol="0" anchor="t"/>
          <a:lstStyle/>
          <a:p>
            <a:pPr marL="0" indent="0">
              <a:buNone/>
            </a:pPr>
            <a:r>
              <a:rPr lang="en-US" sz="1600" b="1" dirty="0">
                <a:solidFill>
                  <a:schemeClr val="tx2"/>
                </a:solidFill>
              </a:rPr>
              <a:t>Station encoding</a:t>
            </a:r>
            <a:endParaRPr lang="en-US" sz="1600" dirty="0"/>
          </a:p>
        </p:txBody>
      </p:sp>
      <p:sp>
        <p:nvSpPr>
          <p:cNvPr id="27" name="Text 20"/>
          <p:cNvSpPr txBox="1"/>
          <p:nvPr/>
        </p:nvSpPr>
        <p:spPr>
          <a:xfrm>
            <a:off x="1600200" y="5349240"/>
            <a:ext cx="1874520" cy="640080"/>
          </a:xfrm>
          <a:prstGeom prst="rect">
            <a:avLst/>
          </a:prstGeom>
          <a:noFill/>
          <a:ln/>
        </p:spPr>
        <p:txBody>
          <a:bodyPr wrap="square" lIns="0" tIns="0" rIns="0" bIns="0" rtlCol="0" anchor="t"/>
          <a:lstStyle/>
          <a:p>
            <a:pPr marL="0" indent="0">
              <a:buNone/>
            </a:pPr>
            <a:r>
              <a:rPr lang="en-US" sz="1400" dirty="0">
                <a:solidFill>
                  <a:schemeClr val="tx1"/>
                </a:solidFill>
              </a:rPr>
              <a:t>One-hot encoding of 10 stations</a:t>
            </a:r>
            <a:endParaRPr lang="en-US" sz="1400" dirty="0"/>
          </a:p>
        </p:txBody>
      </p:sp>
      <p:sp>
        <p:nvSpPr>
          <p:cNvPr id="28" name="Feature 6"/>
          <p:cNvSpPr/>
          <p:nvPr/>
        </p:nvSpPr>
        <p:spPr>
          <a:xfrm>
            <a:off x="3794760" y="4663440"/>
            <a:ext cx="301752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29" name="Feature 6 badge"/>
          <p:cNvSpPr/>
          <p:nvPr/>
        </p:nvSpPr>
        <p:spPr>
          <a:xfrm>
            <a:off x="4023360" y="5029200"/>
            <a:ext cx="640080" cy="640080"/>
          </a:xfrm>
          <a:prstGeom prst="ellipse">
            <a:avLst/>
          </a:prstGeom>
          <a:solidFill>
            <a:schemeClr val="accent3"/>
          </a:solidFill>
          <a:ln/>
        </p:spPr>
      </p:sp>
      <p:pic>
        <p:nvPicPr>
          <p:cNvPr id="30" name="Feature 6 icon" descr="preencoded.png"/>
          <p:cNvPicPr>
            <a:picLocks noChangeAspect="1"/>
          </p:cNvPicPr>
          <p:nvPr/>
        </p:nvPicPr>
        <p:blipFill>
          <a:blip r:embed="rId8"/>
          <a:stretch>
            <a:fillRect/>
          </a:stretch>
        </p:blipFill>
        <p:spPr>
          <a:xfrm>
            <a:off x="4196182" y="5202022"/>
            <a:ext cx="294437" cy="294437"/>
          </a:xfrm>
          <a:prstGeom prst="rect">
            <a:avLst/>
          </a:prstGeom>
        </p:spPr>
      </p:pic>
      <p:sp>
        <p:nvSpPr>
          <p:cNvPr id="31" name="Text 23"/>
          <p:cNvSpPr txBox="1"/>
          <p:nvPr/>
        </p:nvSpPr>
        <p:spPr>
          <a:xfrm>
            <a:off x="4846320" y="4937760"/>
            <a:ext cx="1874520" cy="365760"/>
          </a:xfrm>
          <a:prstGeom prst="rect">
            <a:avLst/>
          </a:prstGeom>
          <a:noFill/>
          <a:ln/>
        </p:spPr>
        <p:txBody>
          <a:bodyPr wrap="square" lIns="0" tIns="0" rIns="0" bIns="0" rtlCol="0" anchor="t"/>
          <a:lstStyle/>
          <a:p>
            <a:pPr marL="0" indent="0">
              <a:buNone/>
            </a:pPr>
            <a:r>
              <a:rPr lang="en-US" sz="1600" b="1" dirty="0">
                <a:solidFill>
                  <a:schemeClr val="tx2"/>
                </a:solidFill>
              </a:rPr>
              <a:t>Regression target</a:t>
            </a:r>
            <a:endParaRPr lang="en-US" sz="1600" dirty="0"/>
          </a:p>
        </p:txBody>
      </p:sp>
      <p:sp>
        <p:nvSpPr>
          <p:cNvPr id="32" name="Text 24"/>
          <p:cNvSpPr txBox="1"/>
          <p:nvPr/>
        </p:nvSpPr>
        <p:spPr>
          <a:xfrm>
            <a:off x="4846320" y="5349240"/>
            <a:ext cx="1874520" cy="640080"/>
          </a:xfrm>
          <a:prstGeom prst="rect">
            <a:avLst/>
          </a:prstGeom>
          <a:noFill/>
          <a:ln/>
        </p:spPr>
        <p:txBody>
          <a:bodyPr wrap="square" lIns="0" tIns="0" rIns="0" bIns="0" rtlCol="0" anchor="t"/>
          <a:lstStyle/>
          <a:p>
            <a:pPr marL="0" indent="0">
              <a:buNone/>
            </a:pPr>
            <a:r>
              <a:rPr lang="en-US" sz="1400" dirty="0">
                <a:solidFill>
                  <a:schemeClr val="tx1"/>
                </a:solidFill>
              </a:rPr>
              <a:t>Next day's river discharge</a:t>
            </a:r>
            <a:endParaRPr lang="en-US" sz="1400" dirty="0"/>
          </a:p>
        </p:txBody>
      </p:sp>
      <p:sp>
        <p:nvSpPr>
          <p:cNvPr id="33" name="Before after panel"/>
          <p:cNvSpPr/>
          <p:nvPr/>
        </p:nvSpPr>
        <p:spPr>
          <a:xfrm>
            <a:off x="7178040" y="1463040"/>
            <a:ext cx="4434840" cy="4617720"/>
          </a:xfrm>
          <a:prstGeom prst="roundRect">
            <a:avLst>
              <a:gd name="adj" fmla="val 2474"/>
            </a:avLst>
          </a:prstGeom>
          <a:solidFill>
            <a:schemeClr val="tx2"/>
          </a:solidFill>
          <a:ln/>
          <a:effectLst>
            <a:outerShdw blurRad="101600" dist="25400" dir="5400000" algn="bl" rotWithShape="0">
              <a:srgbClr val="000000">
                <a:alpha val="12000"/>
              </a:srgbClr>
            </a:outerShdw>
          </a:effectLst>
        </p:spPr>
      </p:sp>
      <p:sp>
        <p:nvSpPr>
          <p:cNvPr id="34" name="Text 26"/>
          <p:cNvSpPr txBox="1"/>
          <p:nvPr/>
        </p:nvSpPr>
        <p:spPr>
          <a:xfrm>
            <a:off x="7452360" y="1645920"/>
            <a:ext cx="3931920" cy="731520"/>
          </a:xfrm>
          <a:prstGeom prst="rect">
            <a:avLst/>
          </a:prstGeom>
          <a:noFill/>
          <a:ln/>
        </p:spPr>
        <p:txBody>
          <a:bodyPr wrap="square" lIns="0" tIns="0" rIns="0" bIns="0" rtlCol="0" anchor="t"/>
          <a:lstStyle/>
          <a:p>
            <a:pPr marL="0" indent="0">
              <a:buNone/>
            </a:pPr>
            <a:r>
              <a:rPr lang="en-US" sz="1600" b="1" dirty="0">
                <a:solidFill>
                  <a:schemeClr val="bg1"/>
                </a:solidFill>
              </a:rPr>
              <a:t>Linear Regression: without vs with engineered features</a:t>
            </a:r>
            <a:endParaRPr lang="en-US" sz="1600" dirty="0"/>
          </a:p>
        </p:txBody>
      </p:sp>
      <p:sp>
        <p:nvSpPr>
          <p:cNvPr id="35" name="Text 27"/>
          <p:cNvSpPr txBox="1"/>
          <p:nvPr/>
        </p:nvSpPr>
        <p:spPr>
          <a:xfrm>
            <a:off x="7452360" y="2468880"/>
            <a:ext cx="1005840" cy="731520"/>
          </a:xfrm>
          <a:prstGeom prst="rect">
            <a:avLst/>
          </a:prstGeom>
          <a:noFill/>
          <a:ln/>
        </p:spPr>
        <p:txBody>
          <a:bodyPr wrap="square" lIns="0" tIns="0" rIns="0" bIns="0" rtlCol="0" anchor="ctr"/>
          <a:lstStyle/>
          <a:p>
            <a:pPr marL="0" indent="0">
              <a:buNone/>
            </a:pPr>
            <a:r>
              <a:rPr lang="en-US" sz="1800" b="1" dirty="0">
                <a:solidFill>
                  <a:schemeClr val="accent4"/>
                </a:solidFill>
              </a:rPr>
              <a:t>R²</a:t>
            </a:r>
            <a:endParaRPr lang="en-US" sz="1800" dirty="0"/>
          </a:p>
        </p:txBody>
      </p:sp>
      <p:sp>
        <p:nvSpPr>
          <p:cNvPr id="36" name="Text 28"/>
          <p:cNvSpPr txBox="1"/>
          <p:nvPr/>
        </p:nvSpPr>
        <p:spPr>
          <a:xfrm>
            <a:off x="8412480" y="2468880"/>
            <a:ext cx="1097280" cy="731520"/>
          </a:xfrm>
          <a:prstGeom prst="rect">
            <a:avLst/>
          </a:prstGeom>
          <a:noFill/>
          <a:ln/>
        </p:spPr>
        <p:txBody>
          <a:bodyPr wrap="square" lIns="0" tIns="0" rIns="0" bIns="0" rtlCol="0" anchor="ctr"/>
          <a:lstStyle/>
          <a:p>
            <a:pPr marL="0" indent="0" algn="ctr">
              <a:buNone/>
            </a:pPr>
            <a:r>
              <a:rPr lang="en-US" sz="2000" dirty="0">
                <a:solidFill>
                  <a:schemeClr val="bg2"/>
                </a:solidFill>
              </a:rPr>
              <a:t>0.8920</a:t>
            </a:r>
            <a:endParaRPr lang="en-US" sz="2000" dirty="0"/>
          </a:p>
        </p:txBody>
      </p:sp>
      <p:pic>
        <p:nvPicPr>
          <p:cNvPr id="37" name="Arrow 1" descr="preencoded.png"/>
          <p:cNvPicPr>
            <a:picLocks noChangeAspect="1"/>
          </p:cNvPicPr>
          <p:nvPr/>
        </p:nvPicPr>
        <p:blipFill>
          <a:blip r:embed="rId9"/>
          <a:stretch>
            <a:fillRect/>
          </a:stretch>
        </p:blipFill>
        <p:spPr>
          <a:xfrm>
            <a:off x="9601200" y="2706624"/>
            <a:ext cx="256032" cy="256032"/>
          </a:xfrm>
          <a:prstGeom prst="rect">
            <a:avLst/>
          </a:prstGeom>
        </p:spPr>
      </p:pic>
      <p:sp>
        <p:nvSpPr>
          <p:cNvPr id="38" name="Text 29"/>
          <p:cNvSpPr txBox="1"/>
          <p:nvPr/>
        </p:nvSpPr>
        <p:spPr>
          <a:xfrm>
            <a:off x="9966960" y="2468880"/>
            <a:ext cx="1371600" cy="731520"/>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0.9038</a:t>
            </a:r>
            <a:endParaRPr lang="en-US" sz="2400" dirty="0"/>
          </a:p>
        </p:txBody>
      </p:sp>
      <p:sp>
        <p:nvSpPr>
          <p:cNvPr id="39" name="Text 30"/>
          <p:cNvSpPr txBox="1"/>
          <p:nvPr/>
        </p:nvSpPr>
        <p:spPr>
          <a:xfrm>
            <a:off x="7452360" y="3383280"/>
            <a:ext cx="1005840" cy="731520"/>
          </a:xfrm>
          <a:prstGeom prst="rect">
            <a:avLst/>
          </a:prstGeom>
          <a:noFill/>
          <a:ln/>
        </p:spPr>
        <p:txBody>
          <a:bodyPr wrap="square" lIns="0" tIns="0" rIns="0" bIns="0" rtlCol="0" anchor="ctr"/>
          <a:lstStyle/>
          <a:p>
            <a:pPr marL="0" indent="0">
              <a:buNone/>
            </a:pPr>
            <a:r>
              <a:rPr lang="en-US" sz="1800" b="1" dirty="0">
                <a:solidFill>
                  <a:schemeClr val="accent4"/>
                </a:solidFill>
              </a:rPr>
              <a:t>RMSE</a:t>
            </a:r>
            <a:endParaRPr lang="en-US" sz="1800" dirty="0"/>
          </a:p>
        </p:txBody>
      </p:sp>
      <p:sp>
        <p:nvSpPr>
          <p:cNvPr id="40" name="Text 31"/>
          <p:cNvSpPr txBox="1"/>
          <p:nvPr/>
        </p:nvSpPr>
        <p:spPr>
          <a:xfrm>
            <a:off x="8412480" y="3383280"/>
            <a:ext cx="1097280" cy="731520"/>
          </a:xfrm>
          <a:prstGeom prst="rect">
            <a:avLst/>
          </a:prstGeom>
          <a:noFill/>
          <a:ln/>
        </p:spPr>
        <p:txBody>
          <a:bodyPr wrap="square" lIns="0" tIns="0" rIns="0" bIns="0" rtlCol="0" anchor="ctr"/>
          <a:lstStyle/>
          <a:p>
            <a:pPr marL="0" indent="0" algn="ctr">
              <a:buNone/>
            </a:pPr>
            <a:r>
              <a:rPr lang="en-US" sz="2000" dirty="0">
                <a:solidFill>
                  <a:schemeClr val="bg2"/>
                </a:solidFill>
              </a:rPr>
              <a:t>19.30</a:t>
            </a:r>
            <a:endParaRPr lang="en-US" sz="2000" dirty="0"/>
          </a:p>
        </p:txBody>
      </p:sp>
      <p:pic>
        <p:nvPicPr>
          <p:cNvPr id="41" name="Arrow 2" descr="preencoded.png"/>
          <p:cNvPicPr>
            <a:picLocks noChangeAspect="1"/>
          </p:cNvPicPr>
          <p:nvPr/>
        </p:nvPicPr>
        <p:blipFill>
          <a:blip r:embed="rId9"/>
          <a:stretch>
            <a:fillRect/>
          </a:stretch>
        </p:blipFill>
        <p:spPr>
          <a:xfrm>
            <a:off x="9601200" y="3621024"/>
            <a:ext cx="256032" cy="256032"/>
          </a:xfrm>
          <a:prstGeom prst="rect">
            <a:avLst/>
          </a:prstGeom>
        </p:spPr>
      </p:pic>
      <p:sp>
        <p:nvSpPr>
          <p:cNvPr id="42" name="Text 32"/>
          <p:cNvSpPr txBox="1"/>
          <p:nvPr/>
        </p:nvSpPr>
        <p:spPr>
          <a:xfrm>
            <a:off x="9966960" y="3383280"/>
            <a:ext cx="1371600" cy="731520"/>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18.22</a:t>
            </a:r>
            <a:endParaRPr lang="en-US" sz="2400" dirty="0"/>
          </a:p>
        </p:txBody>
      </p:sp>
      <p:sp>
        <p:nvSpPr>
          <p:cNvPr id="43" name="Text 33"/>
          <p:cNvSpPr txBox="1"/>
          <p:nvPr/>
        </p:nvSpPr>
        <p:spPr>
          <a:xfrm>
            <a:off x="7452360" y="4297680"/>
            <a:ext cx="1005840" cy="731520"/>
          </a:xfrm>
          <a:prstGeom prst="rect">
            <a:avLst/>
          </a:prstGeom>
          <a:noFill/>
          <a:ln/>
        </p:spPr>
        <p:txBody>
          <a:bodyPr wrap="square" lIns="0" tIns="0" rIns="0" bIns="0" rtlCol="0" anchor="ctr"/>
          <a:lstStyle/>
          <a:p>
            <a:pPr marL="0" indent="0">
              <a:buNone/>
            </a:pPr>
            <a:r>
              <a:rPr lang="en-US" sz="1800" b="1" dirty="0">
                <a:solidFill>
                  <a:schemeClr val="accent4"/>
                </a:solidFill>
              </a:rPr>
              <a:t>MAE</a:t>
            </a:r>
            <a:endParaRPr lang="en-US" sz="1800" dirty="0"/>
          </a:p>
        </p:txBody>
      </p:sp>
      <p:sp>
        <p:nvSpPr>
          <p:cNvPr id="44" name="Text 34"/>
          <p:cNvSpPr txBox="1"/>
          <p:nvPr/>
        </p:nvSpPr>
        <p:spPr>
          <a:xfrm>
            <a:off x="8412480" y="4297680"/>
            <a:ext cx="1097280" cy="731520"/>
          </a:xfrm>
          <a:prstGeom prst="rect">
            <a:avLst/>
          </a:prstGeom>
          <a:noFill/>
          <a:ln/>
        </p:spPr>
        <p:txBody>
          <a:bodyPr wrap="square" lIns="0" tIns="0" rIns="0" bIns="0" rtlCol="0" anchor="ctr"/>
          <a:lstStyle/>
          <a:p>
            <a:pPr marL="0" indent="0" algn="ctr">
              <a:buNone/>
            </a:pPr>
            <a:r>
              <a:rPr lang="en-US" sz="2000" dirty="0">
                <a:solidFill>
                  <a:schemeClr val="bg2"/>
                </a:solidFill>
              </a:rPr>
              <a:t>6.96</a:t>
            </a:r>
            <a:endParaRPr lang="en-US" sz="2000" dirty="0"/>
          </a:p>
        </p:txBody>
      </p:sp>
      <p:pic>
        <p:nvPicPr>
          <p:cNvPr id="45" name="Arrow 3" descr="preencoded.png"/>
          <p:cNvPicPr>
            <a:picLocks noChangeAspect="1"/>
          </p:cNvPicPr>
          <p:nvPr/>
        </p:nvPicPr>
        <p:blipFill>
          <a:blip r:embed="rId9"/>
          <a:stretch>
            <a:fillRect/>
          </a:stretch>
        </p:blipFill>
        <p:spPr>
          <a:xfrm>
            <a:off x="9601200" y="4535424"/>
            <a:ext cx="256032" cy="256032"/>
          </a:xfrm>
          <a:prstGeom prst="rect">
            <a:avLst/>
          </a:prstGeom>
        </p:spPr>
      </p:pic>
      <p:sp>
        <p:nvSpPr>
          <p:cNvPr id="46" name="Text 35"/>
          <p:cNvSpPr txBox="1"/>
          <p:nvPr/>
        </p:nvSpPr>
        <p:spPr>
          <a:xfrm>
            <a:off x="9966960" y="4297680"/>
            <a:ext cx="1371600" cy="731520"/>
          </a:xfrm>
          <a:prstGeom prst="rect">
            <a:avLst/>
          </a:prstGeom>
          <a:noFill/>
          <a:ln/>
        </p:spPr>
        <p:txBody>
          <a:bodyPr wrap="square" lIns="0" tIns="0" rIns="0" bIns="0" rtlCol="0" anchor="ctr"/>
          <a:lstStyle/>
          <a:p>
            <a:pPr marL="0" indent="0" algn="ctr">
              <a:buNone/>
            </a:pPr>
            <a:r>
              <a:rPr lang="en-US" sz="2400" b="1" dirty="0">
                <a:solidFill>
                  <a:schemeClr val="bg1"/>
                </a:solidFill>
                <a:latin typeface="Cambria" pitchFamily="34" charset="0"/>
                <a:ea typeface="Cambria" pitchFamily="34" charset="-122"/>
                <a:cs typeface="Cambria" pitchFamily="34" charset="-120"/>
              </a:rPr>
              <a:t>6.66</a:t>
            </a:r>
            <a:endParaRPr lang="en-US" sz="2400" dirty="0"/>
          </a:p>
        </p:txBody>
      </p:sp>
      <p:sp>
        <p:nvSpPr>
          <p:cNvPr id="47" name="Text 36"/>
          <p:cNvSpPr txBox="1"/>
          <p:nvPr/>
        </p:nvSpPr>
        <p:spPr>
          <a:xfrm>
            <a:off x="7452360" y="5257800"/>
            <a:ext cx="3931920" cy="731520"/>
          </a:xfrm>
          <a:prstGeom prst="rect">
            <a:avLst/>
          </a:prstGeom>
          <a:noFill/>
          <a:ln/>
        </p:spPr>
        <p:txBody>
          <a:bodyPr wrap="square" lIns="0" tIns="0" rIns="0" bIns="0" rtlCol="0" anchor="t"/>
          <a:lstStyle/>
          <a:p>
            <a:pPr marL="0" indent="0">
              <a:buNone/>
            </a:pPr>
            <a:r>
              <a:rPr lang="en-US" sz="1400" dirty="0">
                <a:solidFill>
                  <a:schemeClr val="bg2"/>
                </a:solidFill>
              </a:rPr>
              <a:t>Errors fell: RMSE by 5.6%, MSE by 10.9% and MAE by 4.4%. RMSE and MAE are in m³/s.</a:t>
            </a:r>
            <a:endParaRPr lang="en-US" sz="1400" dirty="0"/>
          </a:p>
        </p:txBody>
      </p:sp>
      <p:sp>
        <p:nvSpPr>
          <p:cNvPr id="48"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Chronological train-test split</a:t>
            </a:r>
            <a:endParaRPr lang="en-US" sz="3400" dirty="0"/>
          </a:p>
        </p:txBody>
      </p:sp>
      <p:sp>
        <p:nvSpPr>
          <p:cNvPr id="3" name="Train bar"/>
          <p:cNvSpPr/>
          <p:nvPr/>
        </p:nvSpPr>
        <p:spPr>
          <a:xfrm>
            <a:off x="548640" y="1645920"/>
            <a:ext cx="8851392" cy="1188720"/>
          </a:xfrm>
          <a:prstGeom prst="roundRect">
            <a:avLst>
              <a:gd name="adj" fmla="val 7692"/>
            </a:avLst>
          </a:prstGeom>
          <a:solidFill>
            <a:schemeClr val="accent1"/>
          </a:solidFill>
          <a:ln/>
        </p:spPr>
      </p:sp>
      <p:sp>
        <p:nvSpPr>
          <p:cNvPr id="4" name="Test bar"/>
          <p:cNvSpPr/>
          <p:nvPr/>
        </p:nvSpPr>
        <p:spPr>
          <a:xfrm>
            <a:off x="9491472" y="1645920"/>
            <a:ext cx="2121408" cy="1188720"/>
          </a:xfrm>
          <a:prstGeom prst="roundRect">
            <a:avLst>
              <a:gd name="adj" fmla="val 7692"/>
            </a:avLst>
          </a:prstGeom>
          <a:solidFill>
            <a:schemeClr val="accent3"/>
          </a:solidFill>
          <a:ln/>
        </p:spPr>
      </p:sp>
      <p:sp>
        <p:nvSpPr>
          <p:cNvPr id="5" name="Text 3"/>
          <p:cNvSpPr txBox="1"/>
          <p:nvPr/>
        </p:nvSpPr>
        <p:spPr>
          <a:xfrm>
            <a:off x="822960" y="1737360"/>
            <a:ext cx="8229600" cy="457200"/>
          </a:xfrm>
          <a:prstGeom prst="rect">
            <a:avLst/>
          </a:prstGeom>
          <a:noFill/>
          <a:ln/>
        </p:spPr>
        <p:txBody>
          <a:bodyPr wrap="square" lIns="0" tIns="0" rIns="0" bIns="0" rtlCol="0" anchor="t"/>
          <a:lstStyle/>
          <a:p>
            <a:pPr marL="0" indent="0">
              <a:buNone/>
            </a:pPr>
            <a:r>
              <a:rPr lang="en-US" sz="2000" b="1" dirty="0">
                <a:solidFill>
                  <a:schemeClr val="bg1"/>
                </a:solidFill>
              </a:rPr>
              <a:t>Training: first 80% of dates</a:t>
            </a:r>
            <a:endParaRPr lang="en-US" sz="2000" dirty="0"/>
          </a:p>
        </p:txBody>
      </p:sp>
      <p:sp>
        <p:nvSpPr>
          <p:cNvPr id="6" name="Text 4"/>
          <p:cNvSpPr txBox="1"/>
          <p:nvPr/>
        </p:nvSpPr>
        <p:spPr>
          <a:xfrm>
            <a:off x="822960" y="2240280"/>
            <a:ext cx="8229600" cy="457200"/>
          </a:xfrm>
          <a:prstGeom prst="rect">
            <a:avLst/>
          </a:prstGeom>
          <a:noFill/>
          <a:ln/>
        </p:spPr>
        <p:txBody>
          <a:bodyPr wrap="square" lIns="0" tIns="0" rIns="0" bIns="0" rtlCol="0" anchor="t"/>
          <a:lstStyle/>
          <a:p>
            <a:pPr marL="0" indent="0">
              <a:buNone/>
            </a:pPr>
            <a:r>
              <a:rPr lang="en-US" sz="1600" dirty="0">
                <a:solidFill>
                  <a:schemeClr val="bg1"/>
                </a:solidFill>
              </a:rPr>
              <a:t>10,710 records (1,071 dates), before 7 Dec 2025</a:t>
            </a:r>
            <a:endParaRPr lang="en-US" sz="1600" dirty="0"/>
          </a:p>
        </p:txBody>
      </p:sp>
      <p:sp>
        <p:nvSpPr>
          <p:cNvPr id="7" name="Text 5"/>
          <p:cNvSpPr txBox="1"/>
          <p:nvPr/>
        </p:nvSpPr>
        <p:spPr>
          <a:xfrm>
            <a:off x="9692640" y="1737360"/>
            <a:ext cx="1828800" cy="457200"/>
          </a:xfrm>
          <a:prstGeom prst="rect">
            <a:avLst/>
          </a:prstGeom>
          <a:noFill/>
          <a:ln/>
        </p:spPr>
        <p:txBody>
          <a:bodyPr wrap="square" lIns="0" tIns="0" rIns="0" bIns="0" rtlCol="0" anchor="t"/>
          <a:lstStyle/>
          <a:p>
            <a:pPr marL="0" indent="0">
              <a:buNone/>
            </a:pPr>
            <a:r>
              <a:rPr lang="en-US" sz="1800" b="1" dirty="0">
                <a:solidFill>
                  <a:schemeClr val="bg1"/>
                </a:solidFill>
              </a:rPr>
              <a:t>Testing: last 20%</a:t>
            </a:r>
            <a:endParaRPr lang="en-US" sz="1800" dirty="0"/>
          </a:p>
        </p:txBody>
      </p:sp>
      <p:sp>
        <p:nvSpPr>
          <p:cNvPr id="8" name="Text 6"/>
          <p:cNvSpPr txBox="1"/>
          <p:nvPr/>
        </p:nvSpPr>
        <p:spPr>
          <a:xfrm>
            <a:off x="9692640" y="2240280"/>
            <a:ext cx="1828800" cy="457200"/>
          </a:xfrm>
          <a:prstGeom prst="rect">
            <a:avLst/>
          </a:prstGeom>
          <a:noFill/>
          <a:ln/>
        </p:spPr>
        <p:txBody>
          <a:bodyPr wrap="square" lIns="0" tIns="0" rIns="0" bIns="0" rtlCol="0" anchor="t"/>
          <a:lstStyle/>
          <a:p>
            <a:pPr marL="0" indent="0">
              <a:buNone/>
            </a:pPr>
            <a:r>
              <a:rPr lang="en-US" sz="1600" dirty="0">
                <a:solidFill>
                  <a:schemeClr val="bg1"/>
                </a:solidFill>
              </a:rPr>
              <a:t>2,680 records</a:t>
            </a:r>
            <a:endParaRPr lang="en-US" sz="1600" dirty="0"/>
          </a:p>
        </p:txBody>
      </p:sp>
      <p:sp>
        <p:nvSpPr>
          <p:cNvPr id="9" name="Text 7"/>
          <p:cNvSpPr txBox="1"/>
          <p:nvPr/>
        </p:nvSpPr>
        <p:spPr>
          <a:xfrm>
            <a:off x="7223760" y="2971800"/>
            <a:ext cx="4389120" cy="365760"/>
          </a:xfrm>
          <a:prstGeom prst="rect">
            <a:avLst/>
          </a:prstGeom>
          <a:noFill/>
          <a:ln/>
        </p:spPr>
        <p:txBody>
          <a:bodyPr wrap="square" lIns="0" tIns="0" rIns="0" bIns="0" rtlCol="0" anchor="t"/>
          <a:lstStyle/>
          <a:p>
            <a:pPr marL="0" indent="0" algn="r">
              <a:buNone/>
            </a:pPr>
            <a:r>
              <a:rPr lang="en-US" sz="1400" b="1" dirty="0">
                <a:solidFill>
                  <a:schemeClr val="tx2"/>
                </a:solidFill>
              </a:rPr>
              <a:t>Cutoff date: 7 December 2025</a:t>
            </a:r>
            <a:endParaRPr lang="en-US" sz="1400" dirty="0"/>
          </a:p>
        </p:txBody>
      </p:sp>
      <p:sp>
        <p:nvSpPr>
          <p:cNvPr id="10" name="Split card 1"/>
          <p:cNvSpPr/>
          <p:nvPr/>
        </p:nvSpPr>
        <p:spPr>
          <a:xfrm>
            <a:off x="548640" y="3611880"/>
            <a:ext cx="3474720" cy="2514600"/>
          </a:xfrm>
          <a:prstGeom prst="roundRect">
            <a:avLst>
              <a:gd name="adj" fmla="val 4364"/>
            </a:avLst>
          </a:prstGeom>
          <a:solidFill>
            <a:schemeClr val="bg2"/>
          </a:solidFill>
          <a:ln/>
          <a:effectLst>
            <a:outerShdw blurRad="101600" dist="25400" dir="5400000" algn="bl" rotWithShape="0">
              <a:srgbClr val="000000">
                <a:alpha val="12000"/>
              </a:srgbClr>
            </a:outerShdw>
          </a:effectLst>
        </p:spPr>
      </p:sp>
      <p:sp>
        <p:nvSpPr>
          <p:cNvPr id="11" name="Split 1 badge"/>
          <p:cNvSpPr/>
          <p:nvPr/>
        </p:nvSpPr>
        <p:spPr>
          <a:xfrm>
            <a:off x="822960" y="3840480"/>
            <a:ext cx="594360" cy="594360"/>
          </a:xfrm>
          <a:prstGeom prst="ellipse">
            <a:avLst/>
          </a:prstGeom>
          <a:solidFill>
            <a:schemeClr val="accent1"/>
          </a:solidFill>
          <a:ln/>
        </p:spPr>
      </p:sp>
      <p:pic>
        <p:nvPicPr>
          <p:cNvPr id="12" name="Split 1 icon" descr="preencoded.png"/>
          <p:cNvPicPr>
            <a:picLocks noChangeAspect="1"/>
          </p:cNvPicPr>
          <p:nvPr/>
        </p:nvPicPr>
        <p:blipFill>
          <a:blip r:embed="rId3"/>
          <a:stretch>
            <a:fillRect/>
          </a:stretch>
        </p:blipFill>
        <p:spPr>
          <a:xfrm>
            <a:off x="983437" y="4000957"/>
            <a:ext cx="273406" cy="273406"/>
          </a:xfrm>
          <a:prstGeom prst="rect">
            <a:avLst/>
          </a:prstGeom>
        </p:spPr>
      </p:pic>
      <p:sp>
        <p:nvSpPr>
          <p:cNvPr id="13" name="Text 10"/>
          <p:cNvSpPr txBox="1"/>
          <p:nvPr/>
        </p:nvSpPr>
        <p:spPr>
          <a:xfrm>
            <a:off x="1554480" y="3840480"/>
            <a:ext cx="2286000" cy="594360"/>
          </a:xfrm>
          <a:prstGeom prst="rect">
            <a:avLst/>
          </a:prstGeom>
          <a:noFill/>
          <a:ln/>
        </p:spPr>
        <p:txBody>
          <a:bodyPr wrap="square" lIns="0" tIns="0" rIns="0" bIns="0" rtlCol="0" anchor="ctr"/>
          <a:lstStyle/>
          <a:p>
            <a:pPr marL="0" indent="0">
              <a:buNone/>
            </a:pPr>
            <a:r>
              <a:rPr lang="en-US" sz="1800" b="1" dirty="0">
                <a:solidFill>
                  <a:schemeClr val="tx2"/>
                </a:solidFill>
              </a:rPr>
              <a:t>Method</a:t>
            </a:r>
            <a:endParaRPr lang="en-US" sz="1800" dirty="0"/>
          </a:p>
        </p:txBody>
      </p:sp>
      <p:sp>
        <p:nvSpPr>
          <p:cNvPr id="14" name="Text 11"/>
          <p:cNvSpPr txBox="1"/>
          <p:nvPr/>
        </p:nvSpPr>
        <p:spPr>
          <a:xfrm>
            <a:off x="822960" y="4617720"/>
            <a:ext cx="3017520" cy="1417320"/>
          </a:xfrm>
          <a:prstGeom prst="rect">
            <a:avLst/>
          </a:prstGeom>
          <a:noFill/>
          <a:ln/>
        </p:spPr>
        <p:txBody>
          <a:bodyPr wrap="square" lIns="0" tIns="0" rIns="0" bIns="0" rtlCol="0" anchor="t"/>
          <a:lstStyle/>
          <a:p>
            <a:pPr marL="0" indent="0">
              <a:buNone/>
            </a:pPr>
            <a:r>
              <a:rPr lang="en-US" sz="1400" dirty="0">
                <a:solidFill>
                  <a:schemeClr val="tx1"/>
                </a:solidFill>
              </a:rPr>
              <a:t>Dates were sorted and split at the 80% point, so every station shares one cutoff.</a:t>
            </a:r>
            <a:endParaRPr lang="en-US" sz="1400" dirty="0"/>
          </a:p>
        </p:txBody>
      </p:sp>
      <p:sp>
        <p:nvSpPr>
          <p:cNvPr id="15" name="Split card 2"/>
          <p:cNvSpPr/>
          <p:nvPr/>
        </p:nvSpPr>
        <p:spPr>
          <a:xfrm>
            <a:off x="4343400" y="3611880"/>
            <a:ext cx="3474720" cy="2514600"/>
          </a:xfrm>
          <a:prstGeom prst="roundRect">
            <a:avLst>
              <a:gd name="adj" fmla="val 4364"/>
            </a:avLst>
          </a:prstGeom>
          <a:solidFill>
            <a:schemeClr val="bg2"/>
          </a:solidFill>
          <a:ln/>
          <a:effectLst>
            <a:outerShdw blurRad="101600" dist="25400" dir="5400000" algn="bl" rotWithShape="0">
              <a:srgbClr val="000000">
                <a:alpha val="12000"/>
              </a:srgbClr>
            </a:outerShdw>
          </a:effectLst>
        </p:spPr>
      </p:sp>
      <p:sp>
        <p:nvSpPr>
          <p:cNvPr id="16" name="Split 2 badge"/>
          <p:cNvSpPr/>
          <p:nvPr/>
        </p:nvSpPr>
        <p:spPr>
          <a:xfrm>
            <a:off x="4617720" y="3840480"/>
            <a:ext cx="594360" cy="594360"/>
          </a:xfrm>
          <a:prstGeom prst="ellipse">
            <a:avLst/>
          </a:prstGeom>
          <a:solidFill>
            <a:schemeClr val="accent1"/>
          </a:solidFill>
          <a:ln/>
        </p:spPr>
      </p:sp>
      <p:pic>
        <p:nvPicPr>
          <p:cNvPr id="17" name="Split 2 icon" descr="preencoded.png"/>
          <p:cNvPicPr>
            <a:picLocks noChangeAspect="1"/>
          </p:cNvPicPr>
          <p:nvPr/>
        </p:nvPicPr>
        <p:blipFill>
          <a:blip r:embed="rId4"/>
          <a:stretch>
            <a:fillRect/>
          </a:stretch>
        </p:blipFill>
        <p:spPr>
          <a:xfrm>
            <a:off x="4778197" y="4000957"/>
            <a:ext cx="273406" cy="273406"/>
          </a:xfrm>
          <a:prstGeom prst="rect">
            <a:avLst/>
          </a:prstGeom>
        </p:spPr>
      </p:pic>
      <p:sp>
        <p:nvSpPr>
          <p:cNvPr id="18" name="Text 14"/>
          <p:cNvSpPr txBox="1"/>
          <p:nvPr/>
        </p:nvSpPr>
        <p:spPr>
          <a:xfrm>
            <a:off x="5349240" y="3840480"/>
            <a:ext cx="2286000" cy="594360"/>
          </a:xfrm>
          <a:prstGeom prst="rect">
            <a:avLst/>
          </a:prstGeom>
          <a:noFill/>
          <a:ln/>
        </p:spPr>
        <p:txBody>
          <a:bodyPr wrap="square" lIns="0" tIns="0" rIns="0" bIns="0" rtlCol="0" anchor="ctr"/>
          <a:lstStyle/>
          <a:p>
            <a:pPr marL="0" indent="0">
              <a:buNone/>
            </a:pPr>
            <a:r>
              <a:rPr lang="en-US" sz="1800" b="1" dirty="0">
                <a:solidFill>
                  <a:schemeClr val="tx2"/>
                </a:solidFill>
              </a:rPr>
              <a:t>Purpose</a:t>
            </a:r>
            <a:endParaRPr lang="en-US" sz="1800" dirty="0"/>
          </a:p>
        </p:txBody>
      </p:sp>
      <p:sp>
        <p:nvSpPr>
          <p:cNvPr id="19" name="Text 15"/>
          <p:cNvSpPr txBox="1"/>
          <p:nvPr/>
        </p:nvSpPr>
        <p:spPr>
          <a:xfrm>
            <a:off x="4617720" y="4617720"/>
            <a:ext cx="3017520" cy="1417320"/>
          </a:xfrm>
          <a:prstGeom prst="rect">
            <a:avLst/>
          </a:prstGeom>
          <a:noFill/>
          <a:ln/>
        </p:spPr>
        <p:txBody>
          <a:bodyPr wrap="square" lIns="0" tIns="0" rIns="0" bIns="0" rtlCol="0" anchor="t"/>
          <a:lstStyle/>
          <a:p>
            <a:pPr marL="0" indent="0">
              <a:buNone/>
            </a:pPr>
            <a:r>
              <a:rPr lang="en-US" sz="1400" dirty="0">
                <a:solidFill>
                  <a:schemeClr val="tx1"/>
                </a:solidFill>
              </a:rPr>
              <a:t>A chronological split evaluates performance on later observations and reduces the risk of future-data leakage.</a:t>
            </a:r>
            <a:endParaRPr lang="en-US" sz="1400" dirty="0"/>
          </a:p>
        </p:txBody>
      </p:sp>
      <p:sp>
        <p:nvSpPr>
          <p:cNvPr id="20" name="Split card 3"/>
          <p:cNvSpPr/>
          <p:nvPr/>
        </p:nvSpPr>
        <p:spPr>
          <a:xfrm>
            <a:off x="8138160" y="3611880"/>
            <a:ext cx="3474720" cy="2514600"/>
          </a:xfrm>
          <a:prstGeom prst="roundRect">
            <a:avLst>
              <a:gd name="adj" fmla="val 4364"/>
            </a:avLst>
          </a:prstGeom>
          <a:solidFill>
            <a:schemeClr val="bg2"/>
          </a:solidFill>
          <a:ln/>
          <a:effectLst>
            <a:outerShdw blurRad="101600" dist="25400" dir="5400000" algn="bl" rotWithShape="0">
              <a:srgbClr val="000000">
                <a:alpha val="12000"/>
              </a:srgbClr>
            </a:outerShdw>
          </a:effectLst>
        </p:spPr>
      </p:sp>
      <p:sp>
        <p:nvSpPr>
          <p:cNvPr id="21" name="Split 3 badge"/>
          <p:cNvSpPr/>
          <p:nvPr/>
        </p:nvSpPr>
        <p:spPr>
          <a:xfrm>
            <a:off x="8412480" y="3840480"/>
            <a:ext cx="594360" cy="594360"/>
          </a:xfrm>
          <a:prstGeom prst="ellipse">
            <a:avLst/>
          </a:prstGeom>
          <a:solidFill>
            <a:schemeClr val="accent3"/>
          </a:solidFill>
          <a:ln/>
        </p:spPr>
      </p:sp>
      <p:pic>
        <p:nvPicPr>
          <p:cNvPr id="22" name="Split 3 icon" descr="preencoded.png"/>
          <p:cNvPicPr>
            <a:picLocks noChangeAspect="1"/>
          </p:cNvPicPr>
          <p:nvPr/>
        </p:nvPicPr>
        <p:blipFill>
          <a:blip r:embed="rId5"/>
          <a:stretch>
            <a:fillRect/>
          </a:stretch>
        </p:blipFill>
        <p:spPr>
          <a:xfrm>
            <a:off x="8572957" y="4000957"/>
            <a:ext cx="273406" cy="273406"/>
          </a:xfrm>
          <a:prstGeom prst="rect">
            <a:avLst/>
          </a:prstGeom>
        </p:spPr>
      </p:pic>
      <p:sp>
        <p:nvSpPr>
          <p:cNvPr id="23" name="Text 18"/>
          <p:cNvSpPr txBox="1"/>
          <p:nvPr/>
        </p:nvSpPr>
        <p:spPr>
          <a:xfrm>
            <a:off x="9144000" y="3840480"/>
            <a:ext cx="2286000" cy="594360"/>
          </a:xfrm>
          <a:prstGeom prst="rect">
            <a:avLst/>
          </a:prstGeom>
          <a:noFill/>
          <a:ln/>
        </p:spPr>
        <p:txBody>
          <a:bodyPr wrap="square" lIns="0" tIns="0" rIns="0" bIns="0" rtlCol="0" anchor="ctr"/>
          <a:lstStyle/>
          <a:p>
            <a:pPr marL="0" indent="0">
              <a:buNone/>
            </a:pPr>
            <a:r>
              <a:rPr lang="en-US" sz="1800" b="1" dirty="0">
                <a:solidFill>
                  <a:schemeClr val="tx2"/>
                </a:solidFill>
              </a:rPr>
              <a:t>Limitation</a:t>
            </a:r>
            <a:endParaRPr lang="en-US" sz="1800" dirty="0"/>
          </a:p>
        </p:txBody>
      </p:sp>
      <p:sp>
        <p:nvSpPr>
          <p:cNvPr id="24" name="Text 19"/>
          <p:cNvSpPr txBox="1"/>
          <p:nvPr/>
        </p:nvSpPr>
        <p:spPr>
          <a:xfrm>
            <a:off x="8412480" y="4617720"/>
            <a:ext cx="3017520" cy="1417320"/>
          </a:xfrm>
          <a:prstGeom prst="rect">
            <a:avLst/>
          </a:prstGeom>
          <a:noFill/>
          <a:ln/>
        </p:spPr>
        <p:txBody>
          <a:bodyPr wrap="square" lIns="0" tIns="0" rIns="0" bIns="0" rtlCol="0" anchor="t"/>
          <a:lstStyle/>
          <a:p>
            <a:pPr marL="0" indent="0">
              <a:buNone/>
            </a:pPr>
            <a:r>
              <a:rPr lang="en-US" sz="1400" dirty="0">
                <a:solidFill>
                  <a:schemeClr val="tx1"/>
                </a:solidFill>
              </a:rPr>
              <a:t>One split only. Missing values were filled with full-dataset means, so leakage risk is reduced, not removed.</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Regression model comparison</a:t>
            </a:r>
            <a:endParaRPr lang="en-US" sz="3400" dirty="0"/>
          </a:p>
        </p:txBody>
      </p:sp>
      <p:graphicFrame>
        <p:nvGraphicFramePr>
          <p:cNvPr id="11" name="Regression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3832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548640">
                <a:tc>
                  <a:txBody>
                    <a:bodyPr/>
                    <a:lstStyle/>
                    <a:p>
                      <a:pPr marL="0" indent="0" algn="l">
                        <a:buNone/>
                      </a:pPr>
                      <a:r>
                        <a:rPr lang="en-US" sz="1600" b="1" dirty="0">
                          <a:solidFill>
                            <a:srgbClr val="FFFFFF"/>
                          </a:solidFill>
                        </a:rPr>
                        <a:t>Model</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A2540"/>
                    </a:solidFill>
                  </a:tcPr>
                </a:tc>
                <a:tc>
                  <a:txBody>
                    <a:bodyPr/>
                    <a:lstStyle/>
                    <a:p>
                      <a:pPr marL="0" indent="0" algn="ctr">
                        <a:buNone/>
                      </a:pPr>
                      <a:r>
                        <a:rPr lang="en-US" sz="1600" b="1" dirty="0">
                          <a:solidFill>
                            <a:srgbClr val="FFFFFF"/>
                          </a:solidFill>
                        </a:rPr>
                        <a:t>MAE (m³/s)</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A2540"/>
                    </a:solidFill>
                  </a:tcPr>
                </a:tc>
                <a:tc>
                  <a:txBody>
                    <a:bodyPr/>
                    <a:lstStyle/>
                    <a:p>
                      <a:pPr marL="0" indent="0" algn="ctr">
                        <a:buNone/>
                      </a:pPr>
                      <a:r>
                        <a:rPr lang="en-US" sz="1600" b="1" dirty="0">
                          <a:solidFill>
                            <a:srgbClr val="FFFFFF"/>
                          </a:solidFill>
                        </a:rPr>
                        <a:t>MSE</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A2540"/>
                    </a:solidFill>
                  </a:tcPr>
                </a:tc>
                <a:tc>
                  <a:txBody>
                    <a:bodyPr/>
                    <a:lstStyle/>
                    <a:p>
                      <a:pPr marL="0" indent="0" algn="ctr">
                        <a:buNone/>
                      </a:pPr>
                      <a:r>
                        <a:rPr lang="en-US" sz="1600" b="1" dirty="0">
                          <a:solidFill>
                            <a:srgbClr val="FFFFFF"/>
                          </a:solidFill>
                        </a:rPr>
                        <a:t>RMSE (m³/s)</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A2540"/>
                    </a:solidFill>
                  </a:tcPr>
                </a:tc>
                <a:tc>
                  <a:txBody>
                    <a:bodyPr/>
                    <a:lstStyle/>
                    <a:p>
                      <a:pPr marL="0" indent="0" algn="ctr">
                        <a:buNone/>
                      </a:pPr>
                      <a:r>
                        <a:rPr lang="en-US" sz="1600" b="1" dirty="0">
                          <a:solidFill>
                            <a:srgbClr val="FFFFFF"/>
                          </a:solidFill>
                        </a:rPr>
                        <a:t>R²</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0A2540"/>
                    </a:solidFill>
                  </a:tcPr>
                </a:tc>
                <a:extLst>
                  <a:ext uri="{0D108BD9-81ED-4DB2-BD59-A6C34878D82A}">
                    <a16:rowId xmlns:a16="http://schemas.microsoft.com/office/drawing/2014/main" val="10000"/>
                  </a:ext>
                </a:extLst>
              </a:tr>
              <a:tr h="548640">
                <a:tc>
                  <a:txBody>
                    <a:bodyPr/>
                    <a:lstStyle/>
                    <a:p>
                      <a:pPr marL="0" indent="0" algn="l">
                        <a:buNone/>
                      </a:pPr>
                      <a:r>
                        <a:rPr lang="en-US" sz="1600" b="1" dirty="0">
                          <a:solidFill>
                            <a:srgbClr val="13233A"/>
                          </a:solidFill>
                        </a:rPr>
                        <a:t>Linear Regression</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3233A"/>
                          </a:solidFill>
                        </a:rPr>
                        <a:t>6.66</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E7C86"/>
                          </a:solidFill>
                        </a:rPr>
                        <a:t>331.87</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E7C86"/>
                          </a:solidFill>
                        </a:rPr>
                        <a:t>18.22</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E7C86"/>
                          </a:solidFill>
                        </a:rPr>
                        <a:t>0.9038</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600" b="1" dirty="0">
                          <a:solidFill>
                            <a:srgbClr val="13233A"/>
                          </a:solidFill>
                        </a:rPr>
                        <a:t>Random Forest</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E7C86"/>
                          </a:solidFill>
                        </a:rPr>
                        <a:t>2.88</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3233A"/>
                          </a:solidFill>
                        </a:rPr>
                        <a:t>510.17</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3233A"/>
                          </a:solidFill>
                        </a:rPr>
                        <a:t>22.59</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3233A"/>
                          </a:solidFill>
                        </a:rPr>
                        <a:t>0.8521</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lgn="l">
                        <a:buNone/>
                      </a:pPr>
                      <a:r>
                        <a:rPr lang="en-US" sz="1600" b="1" dirty="0">
                          <a:solidFill>
                            <a:srgbClr val="13233A"/>
                          </a:solidFill>
                        </a:rPr>
                        <a:t>Decision Tree</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3233A"/>
                          </a:solidFill>
                        </a:rPr>
                        <a:t>3.44</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3233A"/>
                          </a:solidFill>
                        </a:rPr>
                        <a:t>792.08</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3233A"/>
                          </a:solidFill>
                        </a:rPr>
                        <a:t>28.14</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3233A"/>
                          </a:solidFill>
                        </a:rPr>
                        <a:t>0.7704</a:t>
                      </a:r>
                      <a:endParaRPr lang="en-US" sz="1600" dirty="0"/>
                    </a:p>
                  </a:txBody>
                  <a:tcPr anchor="ctr">
                    <a:lnL w="9525" cap="flat" cmpd="sng" algn="ctr">
                      <a:solidFill>
                        <a:srgbClr val="D5E0E8"/>
                      </a:solidFill>
                      <a:prstDash val="solid"/>
                      <a:round/>
                      <a:headEnd type="none" w="med" len="med"/>
                      <a:tailEnd type="none" w="med" len="med"/>
                    </a:lnL>
                    <a:lnR w="9525" cap="flat" cmpd="sng" algn="ctr">
                      <a:solidFill>
                        <a:srgbClr val="D5E0E8"/>
                      </a:solidFill>
                      <a:prstDash val="solid"/>
                      <a:round/>
                      <a:headEnd type="none" w="med" len="med"/>
                      <a:tailEnd type="none" w="med" len="med"/>
                    </a:lnR>
                    <a:lnT w="9525" cap="flat" cmpd="sng" algn="ctr">
                      <a:solidFill>
                        <a:srgbClr val="D5E0E8"/>
                      </a:solidFill>
                      <a:prstDash val="solid"/>
                      <a:round/>
                      <a:headEnd type="none" w="med" len="med"/>
                      <a:tailEnd type="none" w="med" len="med"/>
                    </a:lnT>
                    <a:lnB w="9525" cap="flat" cmpd="sng" algn="ctr">
                      <a:solidFill>
                        <a:srgbClr val="D5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Text 1"/>
          <p:cNvSpPr txBox="1"/>
          <p:nvPr/>
        </p:nvSpPr>
        <p:spPr>
          <a:xfrm>
            <a:off x="548640" y="3749040"/>
            <a:ext cx="11064240" cy="320040"/>
          </a:xfrm>
          <a:prstGeom prst="rect">
            <a:avLst/>
          </a:prstGeom>
          <a:noFill/>
          <a:ln/>
        </p:spPr>
        <p:txBody>
          <a:bodyPr wrap="square" lIns="0" tIns="0" rIns="0" bIns="0" rtlCol="0" anchor="t"/>
          <a:lstStyle/>
          <a:p>
            <a:pPr marL="0" indent="0">
              <a:buNone/>
            </a:pPr>
            <a:r>
              <a:rPr lang="en-US" sz="1200" dirty="0">
                <a:solidFill>
                  <a:schemeClr val="accent5"/>
                </a:solidFill>
              </a:rPr>
              <a:t>Best value in each column is shown in teal. All models predict next-day discharge on the chronological test set.</a:t>
            </a:r>
            <a:endParaRPr lang="en-US" sz="1200" dirty="0"/>
          </a:p>
        </p:txBody>
      </p:sp>
      <p:sp>
        <p:nvSpPr>
          <p:cNvPr id="5" name="Regression note 1"/>
          <p:cNvSpPr/>
          <p:nvPr/>
        </p:nvSpPr>
        <p:spPr>
          <a:xfrm>
            <a:off x="548640" y="4251960"/>
            <a:ext cx="3474720" cy="1920240"/>
          </a:xfrm>
          <a:prstGeom prst="roundRect">
            <a:avLst>
              <a:gd name="adj" fmla="val 5714"/>
            </a:avLst>
          </a:prstGeom>
          <a:solidFill>
            <a:schemeClr val="bg2"/>
          </a:solidFill>
          <a:ln/>
          <a:effectLst>
            <a:outerShdw blurRad="101600" dist="25400" dir="5400000" algn="bl" rotWithShape="0">
              <a:srgbClr val="000000">
                <a:alpha val="12000"/>
              </a:srgbClr>
            </a:outerShdw>
          </a:effectLst>
        </p:spPr>
      </p:sp>
      <p:sp>
        <p:nvSpPr>
          <p:cNvPr id="6" name="Regression 1 badge"/>
          <p:cNvSpPr/>
          <p:nvPr/>
        </p:nvSpPr>
        <p:spPr>
          <a:xfrm>
            <a:off x="777240" y="4434840"/>
            <a:ext cx="502920" cy="502920"/>
          </a:xfrm>
          <a:prstGeom prst="ellipse">
            <a:avLst/>
          </a:prstGeom>
          <a:solidFill>
            <a:schemeClr val="accent1"/>
          </a:solidFill>
          <a:ln/>
        </p:spPr>
      </p:sp>
      <p:pic>
        <p:nvPicPr>
          <p:cNvPr id="7" name="Regression 1 icon" descr="preencoded.png"/>
          <p:cNvPicPr>
            <a:picLocks noChangeAspect="1"/>
          </p:cNvPicPr>
          <p:nvPr/>
        </p:nvPicPr>
        <p:blipFill>
          <a:blip r:embed="rId3"/>
          <a:stretch>
            <a:fillRect/>
          </a:stretch>
        </p:blipFill>
        <p:spPr>
          <a:xfrm>
            <a:off x="913028" y="4570628"/>
            <a:ext cx="231343" cy="231343"/>
          </a:xfrm>
          <a:prstGeom prst="rect">
            <a:avLst/>
          </a:prstGeom>
        </p:spPr>
      </p:pic>
      <p:sp>
        <p:nvSpPr>
          <p:cNvPr id="8" name="Text 4"/>
          <p:cNvSpPr txBox="1"/>
          <p:nvPr/>
        </p:nvSpPr>
        <p:spPr>
          <a:xfrm>
            <a:off x="1463040" y="4434840"/>
            <a:ext cx="2377440" cy="502920"/>
          </a:xfrm>
          <a:prstGeom prst="rect">
            <a:avLst/>
          </a:prstGeom>
          <a:noFill/>
          <a:ln/>
        </p:spPr>
        <p:txBody>
          <a:bodyPr wrap="square" lIns="0" tIns="0" rIns="0" bIns="0" rtlCol="0" anchor="ctr"/>
          <a:lstStyle/>
          <a:p>
            <a:pPr marL="0" indent="0">
              <a:buNone/>
            </a:pPr>
            <a:r>
              <a:rPr lang="en-US" sz="1600" b="1" dirty="0">
                <a:solidFill>
                  <a:schemeClr val="tx2"/>
                </a:solidFill>
              </a:rPr>
              <a:t>Linear Regression</a:t>
            </a:r>
            <a:endParaRPr lang="en-US" sz="1600" dirty="0"/>
          </a:p>
        </p:txBody>
      </p:sp>
      <p:sp>
        <p:nvSpPr>
          <p:cNvPr id="9" name="Text 5"/>
          <p:cNvSpPr txBox="1"/>
          <p:nvPr/>
        </p:nvSpPr>
        <p:spPr>
          <a:xfrm>
            <a:off x="777240" y="4983480"/>
            <a:ext cx="3017520" cy="1143000"/>
          </a:xfrm>
          <a:prstGeom prst="rect">
            <a:avLst/>
          </a:prstGeom>
          <a:noFill/>
          <a:ln/>
        </p:spPr>
        <p:txBody>
          <a:bodyPr wrap="square" lIns="0" tIns="0" rIns="0" bIns="0" rtlCol="0" anchor="t"/>
          <a:lstStyle/>
          <a:p>
            <a:pPr marL="0" indent="0">
              <a:buNone/>
            </a:pPr>
            <a:r>
              <a:rPr lang="en-US" sz="1400" dirty="0">
                <a:solidFill>
                  <a:schemeClr val="tx1"/>
                </a:solidFill>
              </a:rPr>
              <a:t>Highest R² (0.9038) and lowest RMSE (18.22 m³/s) of the three models.</a:t>
            </a:r>
            <a:endParaRPr lang="en-US" sz="1400" dirty="0"/>
          </a:p>
        </p:txBody>
      </p:sp>
      <p:sp>
        <p:nvSpPr>
          <p:cNvPr id="10" name="Regression note 2"/>
          <p:cNvSpPr/>
          <p:nvPr/>
        </p:nvSpPr>
        <p:spPr>
          <a:xfrm>
            <a:off x="4343400" y="4251960"/>
            <a:ext cx="3474720" cy="1920240"/>
          </a:xfrm>
          <a:prstGeom prst="roundRect">
            <a:avLst>
              <a:gd name="adj" fmla="val 5714"/>
            </a:avLst>
          </a:prstGeom>
          <a:solidFill>
            <a:schemeClr val="bg2"/>
          </a:solidFill>
          <a:ln/>
          <a:effectLst>
            <a:outerShdw blurRad="101600" dist="25400" dir="5400000" algn="bl" rotWithShape="0">
              <a:srgbClr val="000000">
                <a:alpha val="12000"/>
              </a:srgbClr>
            </a:outerShdw>
          </a:effectLst>
        </p:spPr>
      </p:sp>
      <p:sp>
        <p:nvSpPr>
          <p:cNvPr id="3" name="Regression 2 badge"/>
          <p:cNvSpPr/>
          <p:nvPr/>
        </p:nvSpPr>
        <p:spPr>
          <a:xfrm>
            <a:off x="4572000" y="4434840"/>
            <a:ext cx="502920" cy="502920"/>
          </a:xfrm>
          <a:prstGeom prst="ellipse">
            <a:avLst/>
          </a:prstGeom>
          <a:solidFill>
            <a:schemeClr val="accent2"/>
          </a:solidFill>
          <a:ln/>
        </p:spPr>
      </p:sp>
      <p:pic>
        <p:nvPicPr>
          <p:cNvPr id="12" name="Regression 2 icon" descr="preencoded.png"/>
          <p:cNvPicPr>
            <a:picLocks noChangeAspect="1"/>
          </p:cNvPicPr>
          <p:nvPr/>
        </p:nvPicPr>
        <p:blipFill>
          <a:blip r:embed="rId4"/>
          <a:stretch>
            <a:fillRect/>
          </a:stretch>
        </p:blipFill>
        <p:spPr>
          <a:xfrm>
            <a:off x="4707788" y="4570628"/>
            <a:ext cx="231343" cy="231343"/>
          </a:xfrm>
          <a:prstGeom prst="rect">
            <a:avLst/>
          </a:prstGeom>
        </p:spPr>
      </p:pic>
      <p:sp>
        <p:nvSpPr>
          <p:cNvPr id="13" name="Text 8"/>
          <p:cNvSpPr txBox="1"/>
          <p:nvPr/>
        </p:nvSpPr>
        <p:spPr>
          <a:xfrm>
            <a:off x="5257800" y="4434840"/>
            <a:ext cx="2377440" cy="502920"/>
          </a:xfrm>
          <a:prstGeom prst="rect">
            <a:avLst/>
          </a:prstGeom>
          <a:noFill/>
          <a:ln/>
        </p:spPr>
        <p:txBody>
          <a:bodyPr wrap="square" lIns="0" tIns="0" rIns="0" bIns="0" rtlCol="0" anchor="ctr"/>
          <a:lstStyle/>
          <a:p>
            <a:pPr marL="0" indent="0">
              <a:buNone/>
            </a:pPr>
            <a:r>
              <a:rPr lang="en-US" sz="1600" b="1" dirty="0">
                <a:solidFill>
                  <a:schemeClr val="tx2"/>
                </a:solidFill>
              </a:rPr>
              <a:t>Random Forest</a:t>
            </a:r>
            <a:endParaRPr lang="en-US" sz="1600" dirty="0"/>
          </a:p>
        </p:txBody>
      </p:sp>
      <p:sp>
        <p:nvSpPr>
          <p:cNvPr id="14" name="Text 9"/>
          <p:cNvSpPr txBox="1"/>
          <p:nvPr/>
        </p:nvSpPr>
        <p:spPr>
          <a:xfrm>
            <a:off x="4572000" y="4983480"/>
            <a:ext cx="3017520" cy="1143000"/>
          </a:xfrm>
          <a:prstGeom prst="rect">
            <a:avLst/>
          </a:prstGeom>
          <a:noFill/>
          <a:ln/>
        </p:spPr>
        <p:txBody>
          <a:bodyPr wrap="square" lIns="0" tIns="0" rIns="0" bIns="0" rtlCol="0" anchor="t"/>
          <a:lstStyle/>
          <a:p>
            <a:pPr marL="0" indent="0">
              <a:buNone/>
            </a:pPr>
            <a:r>
              <a:rPr lang="en-US" sz="1400" dirty="0">
                <a:solidFill>
                  <a:schemeClr val="tx1"/>
                </a:solidFill>
              </a:rPr>
              <a:t>Lowest MAE (2.88 m³/s), but a higher RMSE than Linear Regression. Decision Tree had the lowest R².</a:t>
            </a:r>
            <a:endParaRPr lang="en-US" sz="1400" dirty="0"/>
          </a:p>
        </p:txBody>
      </p:sp>
      <p:sp>
        <p:nvSpPr>
          <p:cNvPr id="15" name="Regression note 3"/>
          <p:cNvSpPr/>
          <p:nvPr/>
        </p:nvSpPr>
        <p:spPr>
          <a:xfrm>
            <a:off x="8138160" y="4251960"/>
            <a:ext cx="3474720" cy="1920240"/>
          </a:xfrm>
          <a:prstGeom prst="roundRect">
            <a:avLst>
              <a:gd name="adj" fmla="val 5714"/>
            </a:avLst>
          </a:prstGeom>
          <a:solidFill>
            <a:schemeClr val="bg2"/>
          </a:solidFill>
          <a:ln/>
          <a:effectLst>
            <a:outerShdw blurRad="101600" dist="25400" dir="5400000" algn="bl" rotWithShape="0">
              <a:srgbClr val="000000">
                <a:alpha val="12000"/>
              </a:srgbClr>
            </a:outerShdw>
          </a:effectLst>
        </p:spPr>
      </p:sp>
      <p:sp>
        <p:nvSpPr>
          <p:cNvPr id="16" name="Regression 3 badge"/>
          <p:cNvSpPr/>
          <p:nvPr/>
        </p:nvSpPr>
        <p:spPr>
          <a:xfrm>
            <a:off x="8366760" y="4434840"/>
            <a:ext cx="502920" cy="502920"/>
          </a:xfrm>
          <a:prstGeom prst="ellipse">
            <a:avLst/>
          </a:prstGeom>
          <a:solidFill>
            <a:schemeClr val="accent3"/>
          </a:solidFill>
          <a:ln/>
        </p:spPr>
      </p:sp>
      <p:pic>
        <p:nvPicPr>
          <p:cNvPr id="17" name="Regression 3 icon" descr="preencoded.png"/>
          <p:cNvPicPr>
            <a:picLocks noChangeAspect="1"/>
          </p:cNvPicPr>
          <p:nvPr/>
        </p:nvPicPr>
        <p:blipFill>
          <a:blip r:embed="rId5"/>
          <a:stretch>
            <a:fillRect/>
          </a:stretch>
        </p:blipFill>
        <p:spPr>
          <a:xfrm>
            <a:off x="8502548" y="4570628"/>
            <a:ext cx="231343" cy="231343"/>
          </a:xfrm>
          <a:prstGeom prst="rect">
            <a:avLst/>
          </a:prstGeom>
        </p:spPr>
      </p:pic>
      <p:sp>
        <p:nvSpPr>
          <p:cNvPr id="18" name="Text 12"/>
          <p:cNvSpPr txBox="1"/>
          <p:nvPr/>
        </p:nvSpPr>
        <p:spPr>
          <a:xfrm>
            <a:off x="9052560" y="4434840"/>
            <a:ext cx="2377440" cy="502920"/>
          </a:xfrm>
          <a:prstGeom prst="rect">
            <a:avLst/>
          </a:prstGeom>
          <a:noFill/>
          <a:ln/>
        </p:spPr>
        <p:txBody>
          <a:bodyPr wrap="square" lIns="0" tIns="0" rIns="0" bIns="0" rtlCol="0" anchor="ctr"/>
          <a:lstStyle/>
          <a:p>
            <a:pPr marL="0" indent="0">
              <a:buNone/>
            </a:pPr>
            <a:r>
              <a:rPr lang="en-US" sz="1600" b="1" dirty="0">
                <a:solidFill>
                  <a:schemeClr val="tx2"/>
                </a:solidFill>
              </a:rPr>
              <a:t>Limitations</a:t>
            </a:r>
            <a:endParaRPr lang="en-US" sz="1600" dirty="0"/>
          </a:p>
        </p:txBody>
      </p:sp>
      <p:sp>
        <p:nvSpPr>
          <p:cNvPr id="19" name="Text 13"/>
          <p:cNvSpPr txBox="1"/>
          <p:nvPr/>
        </p:nvSpPr>
        <p:spPr>
          <a:xfrm>
            <a:off x="8366760" y="4983480"/>
            <a:ext cx="3017520" cy="1143000"/>
          </a:xfrm>
          <a:prstGeom prst="rect">
            <a:avLst/>
          </a:prstGeom>
          <a:noFill/>
          <a:ln/>
        </p:spPr>
        <p:txBody>
          <a:bodyPr wrap="square" lIns="0" tIns="0" rIns="0" bIns="0" rtlCol="0" anchor="t"/>
          <a:lstStyle/>
          <a:p>
            <a:pPr marL="0" indent="0">
              <a:buNone/>
            </a:pPr>
            <a:r>
              <a:rPr lang="en-US" sz="1400" dirty="0">
                <a:solidFill>
                  <a:schemeClr val="tx1"/>
                </a:solidFill>
              </a:rPr>
              <a:t>Linear Regression sometimes predicted negative discharge, which is not physically possible. Extreme flows remain hard to predict.</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Prediction errors and station-wise performance</a:t>
            </a:r>
            <a:endParaRPr lang="en-US" sz="3400" dirty="0"/>
          </a:p>
        </p:txBody>
      </p:sp>
      <p:sp>
        <p:nvSpPr>
          <p:cNvPr id="3" name="Scatter card"/>
          <p:cNvSpPr/>
          <p:nvPr/>
        </p:nvSpPr>
        <p:spPr>
          <a:xfrm>
            <a:off x="548640" y="1463040"/>
            <a:ext cx="4937760" cy="4663440"/>
          </a:xfrm>
          <a:prstGeom prst="roundRect">
            <a:avLst>
              <a:gd name="adj" fmla="val 2353"/>
            </a:avLst>
          </a:prstGeom>
          <a:solidFill>
            <a:schemeClr val="bg2"/>
          </a:solidFill>
          <a:ln/>
          <a:effectLst>
            <a:outerShdw blurRad="101600" dist="25400" dir="5400000" algn="bl" rotWithShape="0">
              <a:srgbClr val="000000">
                <a:alpha val="12000"/>
              </a:srgbClr>
            </a:outerShdw>
          </a:effectLst>
        </p:spPr>
      </p:sp>
      <p:sp>
        <p:nvSpPr>
          <p:cNvPr id="4" name="Text 2"/>
          <p:cNvSpPr txBox="1"/>
          <p:nvPr/>
        </p:nvSpPr>
        <p:spPr>
          <a:xfrm>
            <a:off x="777240" y="1600200"/>
            <a:ext cx="4480560" cy="365760"/>
          </a:xfrm>
          <a:prstGeom prst="rect">
            <a:avLst/>
          </a:prstGeom>
          <a:noFill/>
          <a:ln/>
        </p:spPr>
        <p:txBody>
          <a:bodyPr wrap="square" lIns="0" tIns="0" rIns="0" bIns="0" rtlCol="0" anchor="t"/>
          <a:lstStyle/>
          <a:p>
            <a:pPr marL="0" indent="0">
              <a:buNone/>
            </a:pPr>
            <a:r>
              <a:rPr lang="en-US" sz="1400" b="1" dirty="0">
                <a:solidFill>
                  <a:schemeClr val="tx2"/>
                </a:solidFill>
              </a:rPr>
              <a:t>Actual vs predicted: Linear Regression, test set</a:t>
            </a:r>
            <a:endParaRPr lang="en-US" sz="1400" dirty="0"/>
          </a:p>
        </p:txBody>
      </p:sp>
      <p:pic>
        <p:nvPicPr>
          <p:cNvPr id="5" name="Actual vs predicted chart" descr="Scatter plot of actual versus predicted river discharge for Linear Regression with a perfect-prediction line"/>
          <p:cNvPicPr>
            <a:picLocks noChangeAspect="1"/>
          </p:cNvPicPr>
          <p:nvPr/>
        </p:nvPicPr>
        <p:blipFill>
          <a:blip r:embed="rId3"/>
          <a:stretch>
            <a:fillRect/>
          </a:stretch>
        </p:blipFill>
        <p:spPr>
          <a:xfrm>
            <a:off x="777240" y="2057400"/>
            <a:ext cx="4480560" cy="3570324"/>
          </a:xfrm>
          <a:prstGeom prst="rect">
            <a:avLst/>
          </a:prstGeom>
        </p:spPr>
      </p:pic>
      <p:sp>
        <p:nvSpPr>
          <p:cNvPr id="6" name="Text 3"/>
          <p:cNvSpPr txBox="1"/>
          <p:nvPr/>
        </p:nvSpPr>
        <p:spPr>
          <a:xfrm>
            <a:off x="777240" y="5719164"/>
            <a:ext cx="4480560" cy="457200"/>
          </a:xfrm>
          <a:prstGeom prst="rect">
            <a:avLst/>
          </a:prstGeom>
          <a:noFill/>
          <a:ln/>
        </p:spPr>
        <p:txBody>
          <a:bodyPr wrap="square" lIns="0" tIns="0" rIns="0" bIns="0" rtlCol="0" anchor="t"/>
          <a:lstStyle/>
          <a:p>
            <a:pPr marL="0" indent="0">
              <a:buNone/>
            </a:pPr>
            <a:r>
              <a:rPr lang="en-US" sz="1200" dirty="0">
                <a:solidFill>
                  <a:schemeClr val="tx1"/>
                </a:solidFill>
              </a:rPr>
              <a:t>Dashed line = perfect prediction. Larger misses occur at high flows.</a:t>
            </a:r>
            <a:endParaRPr lang="en-US" sz="1200" dirty="0"/>
          </a:p>
        </p:txBody>
      </p:sp>
      <p:graphicFrame>
        <p:nvGraphicFramePr>
          <p:cNvPr id="7" name="Chart 0"/>
          <p:cNvGraphicFramePr/>
          <p:nvPr/>
        </p:nvGraphicFramePr>
        <p:xfrm>
          <a:off x="5852160" y="1463040"/>
          <a:ext cx="576072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8" name="Station 375 note"/>
          <p:cNvSpPr/>
          <p:nvPr/>
        </p:nvSpPr>
        <p:spPr>
          <a:xfrm>
            <a:off x="5852160" y="4846320"/>
            <a:ext cx="5760720" cy="1280160"/>
          </a:xfrm>
          <a:prstGeom prst="roundRect">
            <a:avLst>
              <a:gd name="adj" fmla="val 8571"/>
            </a:avLst>
          </a:prstGeom>
          <a:solidFill>
            <a:schemeClr val="bg2"/>
          </a:solidFill>
          <a:ln/>
          <a:effectLst>
            <a:outerShdw blurRad="101600" dist="25400" dir="5400000" algn="bl" rotWithShape="0">
              <a:srgbClr val="000000">
                <a:alpha val="12000"/>
              </a:srgbClr>
            </a:outerShdw>
          </a:effectLst>
        </p:spPr>
      </p:sp>
      <p:sp>
        <p:nvSpPr>
          <p:cNvPr id="9" name="Text 5"/>
          <p:cNvSpPr txBox="1"/>
          <p:nvPr/>
        </p:nvSpPr>
        <p:spPr>
          <a:xfrm>
            <a:off x="6080760" y="4937760"/>
            <a:ext cx="5303520" cy="1097280"/>
          </a:xfrm>
          <a:prstGeom prst="rect">
            <a:avLst/>
          </a:prstGeom>
          <a:noFill/>
          <a:ln/>
        </p:spPr>
        <p:txBody>
          <a:bodyPr wrap="square" lIns="0" tIns="0" rIns="0" bIns="0" rtlCol="0" anchor="ctr"/>
          <a:lstStyle/>
          <a:p>
            <a:pPr marL="0" indent="0">
              <a:buNone/>
            </a:pPr>
            <a:r>
              <a:rPr lang="en-US" sz="1400" dirty="0">
                <a:solidFill>
                  <a:schemeClr val="tx1"/>
                </a:solidFill>
              </a:rPr>
              <a:t>Station 375 is the hardest to predict: average error 29.15 m³/s versus 2.99 to 5.15 at the other nine stations.</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Regression: important predictive features</a:t>
            </a:r>
            <a:endParaRPr lang="en-US" sz="3400" dirty="0"/>
          </a:p>
        </p:txBody>
      </p:sp>
      <p:graphicFrame>
        <p:nvGraphicFramePr>
          <p:cNvPr id="3" name="Chart 0"/>
          <p:cNvGraphicFramePr/>
          <p:nvPr/>
        </p:nvGraphicFramePr>
        <p:xfrm>
          <a:off x="548640" y="1463040"/>
          <a:ext cx="72237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Importance insight"/>
          <p:cNvSpPr/>
          <p:nvPr/>
        </p:nvSpPr>
        <p:spPr>
          <a:xfrm>
            <a:off x="8138160" y="1463040"/>
            <a:ext cx="3474720" cy="4663440"/>
          </a:xfrm>
          <a:prstGeom prst="roundRect">
            <a:avLst>
              <a:gd name="adj" fmla="val 3158"/>
            </a:avLst>
          </a:prstGeom>
          <a:solidFill>
            <a:schemeClr val="bg2"/>
          </a:solidFill>
          <a:ln/>
          <a:effectLst>
            <a:outerShdw blurRad="101600" dist="25400" dir="5400000" algn="bl" rotWithShape="0">
              <a:srgbClr val="000000">
                <a:alpha val="12000"/>
              </a:srgbClr>
            </a:outerShdw>
          </a:effectLst>
        </p:spPr>
      </p:sp>
      <p:sp>
        <p:nvSpPr>
          <p:cNvPr id="5" name="Text 2"/>
          <p:cNvSpPr txBox="1"/>
          <p:nvPr/>
        </p:nvSpPr>
        <p:spPr>
          <a:xfrm>
            <a:off x="8412480" y="1691640"/>
            <a:ext cx="2926080" cy="365760"/>
          </a:xfrm>
          <a:prstGeom prst="rect">
            <a:avLst/>
          </a:prstGeom>
          <a:noFill/>
          <a:ln/>
        </p:spPr>
        <p:txBody>
          <a:bodyPr wrap="square" lIns="0" tIns="0" rIns="0" bIns="0" rtlCol="0" anchor="t"/>
          <a:lstStyle/>
          <a:p>
            <a:pPr marL="0" indent="0">
              <a:buNone/>
            </a:pPr>
            <a:r>
              <a:rPr lang="en-US" sz="1600" b="1" dirty="0">
                <a:solidFill>
                  <a:schemeClr val="accent1"/>
                </a:solidFill>
              </a:rPr>
              <a:t>Reading the chart</a:t>
            </a:r>
            <a:endParaRPr lang="en-US" sz="1600" dirty="0"/>
          </a:p>
        </p:txBody>
      </p:sp>
      <p:sp>
        <p:nvSpPr>
          <p:cNvPr id="6" name="Text 3"/>
          <p:cNvSpPr txBox="1"/>
          <p:nvPr/>
        </p:nvSpPr>
        <p:spPr>
          <a:xfrm>
            <a:off x="8412480" y="2194560"/>
            <a:ext cx="2926080" cy="1280160"/>
          </a:xfrm>
          <a:prstGeom prst="rect">
            <a:avLst/>
          </a:prstGeom>
          <a:noFill/>
          <a:ln/>
        </p:spPr>
        <p:txBody>
          <a:bodyPr wrap="square" lIns="0" tIns="0" rIns="0" bIns="0" rtlCol="0" anchor="t"/>
          <a:lstStyle/>
          <a:p>
            <a:pPr marL="0" indent="0">
              <a:buNone/>
            </a:pPr>
            <a:r>
              <a:rPr lang="en-US" sz="1400" dirty="0">
                <a:solidFill>
                  <a:schemeClr val="tx1"/>
                </a:solidFill>
              </a:rPr>
              <a:t>Current and earlier discharge had the highest importance scores, far above rainfall and weather variables.</a:t>
            </a:r>
            <a:endParaRPr lang="en-US" sz="1400" dirty="0"/>
          </a:p>
        </p:txBody>
      </p:sp>
      <p:sp>
        <p:nvSpPr>
          <p:cNvPr id="7" name="Text 4"/>
          <p:cNvSpPr txBox="1"/>
          <p:nvPr/>
        </p:nvSpPr>
        <p:spPr>
          <a:xfrm>
            <a:off x="8412480" y="3611880"/>
            <a:ext cx="2926080" cy="640080"/>
          </a:xfrm>
          <a:prstGeom prst="rect">
            <a:avLst/>
          </a:prstGeom>
          <a:noFill/>
          <a:ln/>
        </p:spPr>
        <p:txBody>
          <a:bodyPr wrap="square" lIns="0" tIns="0" rIns="0" bIns="0" rtlCol="0" anchor="t"/>
          <a:lstStyle/>
          <a:p>
            <a:pPr marL="0" indent="0">
              <a:buNone/>
            </a:pPr>
            <a:r>
              <a:rPr lang="en-US" sz="1400" dirty="0">
                <a:solidFill>
                  <a:schemeClr val="tx1"/>
                </a:solidFill>
              </a:rPr>
              <a:t>Rolling rainfall, rain and precipitation had smaller scores.</a:t>
            </a:r>
            <a:endParaRPr lang="en-US" sz="1400" dirty="0"/>
          </a:p>
        </p:txBody>
      </p:sp>
      <p:sp>
        <p:nvSpPr>
          <p:cNvPr id="8" name="Text 5"/>
          <p:cNvSpPr txBox="1"/>
          <p:nvPr/>
        </p:nvSpPr>
        <p:spPr>
          <a:xfrm>
            <a:off x="8412480" y="4434840"/>
            <a:ext cx="2926080" cy="1463040"/>
          </a:xfrm>
          <a:prstGeom prst="rect">
            <a:avLst/>
          </a:prstGeom>
          <a:noFill/>
          <a:ln/>
        </p:spPr>
        <p:txBody>
          <a:bodyPr wrap="square" lIns="0" tIns="0" rIns="0" bIns="0" rtlCol="0" anchor="t"/>
          <a:lstStyle/>
          <a:p>
            <a:pPr marL="0" indent="0">
              <a:buNone/>
            </a:pPr>
            <a:r>
              <a:rPr lang="en-US" sz="1400" b="1" dirty="0">
                <a:solidFill>
                  <a:schemeClr val="tx2"/>
                </a:solidFill>
              </a:rPr>
              <a:t>Importance shows which variables contribute to the model's predictions. It does not establish causation.</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Classification of high-flow observations</a:t>
            </a:r>
            <a:endParaRPr lang="en-US" sz="3400" dirty="0"/>
          </a:p>
        </p:txBody>
      </p:sp>
      <p:graphicFrame>
        <p:nvGraphicFramePr>
          <p:cNvPr id="3" name="Chart 0"/>
          <p:cNvGraphicFramePr/>
          <p:nvPr/>
        </p:nvGraphicFramePr>
        <p:xfrm>
          <a:off x="548640" y="1463040"/>
          <a:ext cx="72237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High flow definition"/>
          <p:cNvSpPr/>
          <p:nvPr/>
        </p:nvSpPr>
        <p:spPr>
          <a:xfrm>
            <a:off x="8138160" y="1463040"/>
            <a:ext cx="3474720" cy="2331720"/>
          </a:xfrm>
          <a:prstGeom prst="roundRect">
            <a:avLst>
              <a:gd name="adj" fmla="val 4706"/>
            </a:avLst>
          </a:prstGeom>
          <a:solidFill>
            <a:schemeClr val="bg2"/>
          </a:solidFill>
          <a:ln/>
          <a:effectLst>
            <a:outerShdw blurRad="101600" dist="25400" dir="5400000" algn="bl" rotWithShape="0">
              <a:srgbClr val="000000">
                <a:alpha val="12000"/>
              </a:srgbClr>
            </a:outerShdw>
          </a:effectLst>
        </p:spPr>
      </p:sp>
      <p:sp>
        <p:nvSpPr>
          <p:cNvPr id="5" name="Text 2"/>
          <p:cNvSpPr txBox="1"/>
          <p:nvPr/>
        </p:nvSpPr>
        <p:spPr>
          <a:xfrm>
            <a:off x="8366760" y="1627632"/>
            <a:ext cx="3017520" cy="365760"/>
          </a:xfrm>
          <a:prstGeom prst="rect">
            <a:avLst/>
          </a:prstGeom>
          <a:noFill/>
          <a:ln/>
        </p:spPr>
        <p:txBody>
          <a:bodyPr wrap="square" lIns="0" tIns="0" rIns="0" bIns="0" rtlCol="0" anchor="t"/>
          <a:lstStyle/>
          <a:p>
            <a:pPr marL="0" indent="0">
              <a:buNone/>
            </a:pPr>
            <a:r>
              <a:rPr lang="en-US" sz="1600" b="1" dirty="0">
                <a:solidFill>
                  <a:schemeClr val="accent1"/>
                </a:solidFill>
              </a:rPr>
              <a:t>Target definition</a:t>
            </a:r>
            <a:endParaRPr lang="en-US" sz="1600" dirty="0"/>
          </a:p>
        </p:txBody>
      </p:sp>
      <p:sp>
        <p:nvSpPr>
          <p:cNvPr id="6" name="Text 3"/>
          <p:cNvSpPr txBox="1"/>
          <p:nvPr/>
        </p:nvSpPr>
        <p:spPr>
          <a:xfrm>
            <a:off x="8366760" y="2057400"/>
            <a:ext cx="3017520" cy="1691640"/>
          </a:xfrm>
          <a:prstGeom prst="rect">
            <a:avLst/>
          </a:prstGeom>
          <a:noFill/>
          <a:ln/>
        </p:spPr>
        <p:txBody>
          <a:bodyPr wrap="square" lIns="0" tIns="0" rIns="0" bIns="0" rtlCol="0" anchor="t"/>
          <a:lstStyle/>
          <a:p>
            <a:pPr marL="0" indent="0">
              <a:buNone/>
            </a:pPr>
            <a:r>
              <a:rPr lang="en-US" sz="1400" dirty="0">
                <a:solidFill>
                  <a:schemeClr val="tx1"/>
                </a:solidFill>
              </a:rPr>
              <a:t>High flow = same-day discharge above the station's 90th percentile (from the training period). Features exclude same-day discharge but include earlier discharge.</a:t>
            </a:r>
            <a:endParaRPr lang="en-US" sz="1400" dirty="0"/>
          </a:p>
        </p:txBody>
      </p:sp>
      <p:sp>
        <p:nvSpPr>
          <p:cNvPr id="7" name="Class weights note"/>
          <p:cNvSpPr/>
          <p:nvPr/>
        </p:nvSpPr>
        <p:spPr>
          <a:xfrm>
            <a:off x="8138160" y="3977640"/>
            <a:ext cx="3474720" cy="2148840"/>
          </a:xfrm>
          <a:prstGeom prst="roundRect">
            <a:avLst>
              <a:gd name="adj" fmla="val 5106"/>
            </a:avLst>
          </a:prstGeom>
          <a:solidFill>
            <a:schemeClr val="bg2"/>
          </a:solidFill>
          <a:ln/>
          <a:effectLst>
            <a:outerShdw blurRad="101600" dist="25400" dir="5400000" algn="bl" rotWithShape="0">
              <a:srgbClr val="000000">
                <a:alpha val="12000"/>
              </a:srgbClr>
            </a:outerShdw>
          </a:effectLst>
        </p:spPr>
      </p:sp>
      <p:sp>
        <p:nvSpPr>
          <p:cNvPr id="8" name="Text 5"/>
          <p:cNvSpPr txBox="1"/>
          <p:nvPr/>
        </p:nvSpPr>
        <p:spPr>
          <a:xfrm>
            <a:off x="8366760" y="4114800"/>
            <a:ext cx="3017520" cy="365760"/>
          </a:xfrm>
          <a:prstGeom prst="rect">
            <a:avLst/>
          </a:prstGeom>
          <a:noFill/>
          <a:ln/>
        </p:spPr>
        <p:txBody>
          <a:bodyPr wrap="square" lIns="0" tIns="0" rIns="0" bIns="0" rtlCol="0" anchor="t"/>
          <a:lstStyle/>
          <a:p>
            <a:pPr marL="0" indent="0">
              <a:buNone/>
            </a:pPr>
            <a:r>
              <a:rPr lang="en-US" sz="1600" b="1" dirty="0">
                <a:solidFill>
                  <a:schemeClr val="accent1"/>
                </a:solidFill>
              </a:rPr>
              <a:t>Class imbalance</a:t>
            </a:r>
            <a:endParaRPr lang="en-US" sz="1600" dirty="0"/>
          </a:p>
        </p:txBody>
      </p:sp>
      <p:sp>
        <p:nvSpPr>
          <p:cNvPr id="9" name="Text 6"/>
          <p:cNvSpPr txBox="1"/>
          <p:nvPr/>
        </p:nvSpPr>
        <p:spPr>
          <a:xfrm>
            <a:off x="8366760" y="4526280"/>
            <a:ext cx="3017520" cy="1554480"/>
          </a:xfrm>
          <a:prstGeom prst="rect">
            <a:avLst/>
          </a:prstGeom>
          <a:noFill/>
          <a:ln/>
        </p:spPr>
        <p:txBody>
          <a:bodyPr wrap="square" lIns="0" tIns="0" rIns="0" bIns="0" rtlCol="0" anchor="t"/>
          <a:lstStyle/>
          <a:p>
            <a:pPr marL="0" indent="0">
              <a:buNone/>
            </a:pPr>
            <a:r>
              <a:rPr lang="en-US" sz="1400" dirty="0">
                <a:solidFill>
                  <a:schemeClr val="tx1"/>
                </a:solidFill>
              </a:rPr>
              <a:t>Training: 1,067 high-flow vs 9,643 other (10.0%). Test: 172 of 2,680 (6.4%). Class weights change each class's influence in training; the class counts stay the same.</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tx2"/>
                </a:solidFill>
              </a:rPr>
              <a:t>Classification performance and features</a:t>
            </a:r>
            <a:endParaRPr lang="en-US" sz="3400" dirty="0"/>
          </a:p>
        </p:txBody>
      </p:sp>
      <p:sp>
        <p:nvSpPr>
          <p:cNvPr id="3" name="Confusion matrix card"/>
          <p:cNvSpPr/>
          <p:nvPr/>
        </p:nvSpPr>
        <p:spPr>
          <a:xfrm>
            <a:off x="548640" y="1463040"/>
            <a:ext cx="4297680" cy="4663440"/>
          </a:xfrm>
          <a:prstGeom prst="roundRect">
            <a:avLst>
              <a:gd name="adj" fmla="val 2553"/>
            </a:avLst>
          </a:prstGeom>
          <a:solidFill>
            <a:schemeClr val="bg2"/>
          </a:solidFill>
          <a:ln/>
          <a:effectLst>
            <a:outerShdw blurRad="101600" dist="25400" dir="5400000" algn="bl" rotWithShape="0">
              <a:srgbClr val="000000">
                <a:alpha val="12000"/>
              </a:srgbClr>
            </a:outerShdw>
          </a:effectLst>
        </p:spPr>
      </p:sp>
      <p:sp>
        <p:nvSpPr>
          <p:cNvPr id="4" name="Text 2"/>
          <p:cNvSpPr txBox="1"/>
          <p:nvPr/>
        </p:nvSpPr>
        <p:spPr>
          <a:xfrm>
            <a:off x="777240" y="1600200"/>
            <a:ext cx="3840480" cy="365760"/>
          </a:xfrm>
          <a:prstGeom prst="rect">
            <a:avLst/>
          </a:prstGeom>
          <a:noFill/>
          <a:ln/>
        </p:spPr>
        <p:txBody>
          <a:bodyPr wrap="square" lIns="0" tIns="0" rIns="0" bIns="0" rtlCol="0" anchor="t"/>
          <a:lstStyle/>
          <a:p>
            <a:pPr marL="0" indent="0">
              <a:buNone/>
            </a:pPr>
            <a:r>
              <a:rPr lang="en-US" sz="1600" b="1" dirty="0">
                <a:solidFill>
                  <a:schemeClr val="tx2"/>
                </a:solidFill>
              </a:rPr>
              <a:t>Random Forest confusion matrix</a:t>
            </a:r>
            <a:endParaRPr lang="en-US" sz="1600" dirty="0"/>
          </a:p>
        </p:txBody>
      </p:sp>
      <p:sp>
        <p:nvSpPr>
          <p:cNvPr id="5" name="Matrix cell 1"/>
          <p:cNvSpPr/>
          <p:nvPr/>
        </p:nvSpPr>
        <p:spPr>
          <a:xfrm>
            <a:off x="777240" y="2103120"/>
            <a:ext cx="1828800" cy="1280160"/>
          </a:xfrm>
          <a:prstGeom prst="roundRect">
            <a:avLst>
              <a:gd name="adj" fmla="val 7143"/>
            </a:avLst>
          </a:prstGeom>
          <a:solidFill>
            <a:schemeClr val="accent2"/>
          </a:solidFill>
          <a:ln/>
        </p:spPr>
      </p:sp>
      <p:sp>
        <p:nvSpPr>
          <p:cNvPr id="6" name="Text 4"/>
          <p:cNvSpPr txBox="1"/>
          <p:nvPr/>
        </p:nvSpPr>
        <p:spPr>
          <a:xfrm>
            <a:off x="777240" y="2212848"/>
            <a:ext cx="1828800" cy="59436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2,472</a:t>
            </a:r>
            <a:endParaRPr lang="en-US" sz="2600" dirty="0"/>
          </a:p>
        </p:txBody>
      </p:sp>
      <p:sp>
        <p:nvSpPr>
          <p:cNvPr id="7" name="Text 5"/>
          <p:cNvSpPr txBox="1"/>
          <p:nvPr/>
        </p:nvSpPr>
        <p:spPr>
          <a:xfrm>
            <a:off x="822960" y="2834640"/>
            <a:ext cx="1737360" cy="502920"/>
          </a:xfrm>
          <a:prstGeom prst="rect">
            <a:avLst/>
          </a:prstGeom>
          <a:noFill/>
          <a:ln/>
        </p:spPr>
        <p:txBody>
          <a:bodyPr wrap="square" lIns="0" tIns="0" rIns="0" bIns="0" rtlCol="0" anchor="t"/>
          <a:lstStyle/>
          <a:p>
            <a:pPr marL="0" indent="0" algn="ctr">
              <a:buNone/>
            </a:pPr>
            <a:r>
              <a:rPr lang="en-US" sz="1200" dirty="0">
                <a:solidFill>
                  <a:schemeClr val="bg1"/>
                </a:solidFill>
              </a:rPr>
              <a:t>True negatives</a:t>
            </a:r>
            <a:endParaRPr lang="en-US" sz="1200" dirty="0"/>
          </a:p>
        </p:txBody>
      </p:sp>
      <p:sp>
        <p:nvSpPr>
          <p:cNvPr id="8" name="Matrix cell 2"/>
          <p:cNvSpPr/>
          <p:nvPr/>
        </p:nvSpPr>
        <p:spPr>
          <a:xfrm>
            <a:off x="2743200" y="2103120"/>
            <a:ext cx="1828800" cy="1280160"/>
          </a:xfrm>
          <a:prstGeom prst="roundRect">
            <a:avLst>
              <a:gd name="adj" fmla="val 7143"/>
            </a:avLst>
          </a:prstGeom>
          <a:solidFill>
            <a:schemeClr val="accent5"/>
          </a:solidFill>
          <a:ln/>
        </p:spPr>
      </p:sp>
      <p:sp>
        <p:nvSpPr>
          <p:cNvPr id="9" name="Text 7"/>
          <p:cNvSpPr txBox="1"/>
          <p:nvPr/>
        </p:nvSpPr>
        <p:spPr>
          <a:xfrm>
            <a:off x="2743200" y="2212848"/>
            <a:ext cx="1828800" cy="59436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36</a:t>
            </a:r>
            <a:endParaRPr lang="en-US" sz="2600" dirty="0"/>
          </a:p>
        </p:txBody>
      </p:sp>
      <p:sp>
        <p:nvSpPr>
          <p:cNvPr id="10" name="Text 8"/>
          <p:cNvSpPr txBox="1"/>
          <p:nvPr/>
        </p:nvSpPr>
        <p:spPr>
          <a:xfrm>
            <a:off x="2788920" y="2834640"/>
            <a:ext cx="1737360" cy="502920"/>
          </a:xfrm>
          <a:prstGeom prst="rect">
            <a:avLst/>
          </a:prstGeom>
          <a:noFill/>
          <a:ln/>
        </p:spPr>
        <p:txBody>
          <a:bodyPr wrap="square" lIns="0" tIns="0" rIns="0" bIns="0" rtlCol="0" anchor="t"/>
          <a:lstStyle/>
          <a:p>
            <a:pPr marL="0" indent="0" algn="ctr">
              <a:buNone/>
            </a:pPr>
            <a:r>
              <a:rPr lang="en-US" sz="1200" dirty="0">
                <a:solidFill>
                  <a:schemeClr val="bg1"/>
                </a:solidFill>
              </a:rPr>
              <a:t>False positives</a:t>
            </a:r>
            <a:endParaRPr lang="en-US" sz="1200" dirty="0"/>
          </a:p>
        </p:txBody>
      </p:sp>
      <p:sp>
        <p:nvSpPr>
          <p:cNvPr id="11" name="Matrix cell 3"/>
          <p:cNvSpPr/>
          <p:nvPr/>
        </p:nvSpPr>
        <p:spPr>
          <a:xfrm>
            <a:off x="777240" y="3474720"/>
            <a:ext cx="1828800" cy="1280160"/>
          </a:xfrm>
          <a:prstGeom prst="roundRect">
            <a:avLst>
              <a:gd name="adj" fmla="val 7143"/>
            </a:avLst>
          </a:prstGeom>
          <a:solidFill>
            <a:schemeClr val="accent3"/>
          </a:solidFill>
          <a:ln/>
        </p:spPr>
      </p:sp>
      <p:sp>
        <p:nvSpPr>
          <p:cNvPr id="12" name="Text 10"/>
          <p:cNvSpPr txBox="1"/>
          <p:nvPr/>
        </p:nvSpPr>
        <p:spPr>
          <a:xfrm>
            <a:off x="777240" y="3584448"/>
            <a:ext cx="1828800" cy="59436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78</a:t>
            </a:r>
            <a:endParaRPr lang="en-US" sz="2600" dirty="0"/>
          </a:p>
        </p:txBody>
      </p:sp>
      <p:sp>
        <p:nvSpPr>
          <p:cNvPr id="13" name="Text 11"/>
          <p:cNvSpPr txBox="1"/>
          <p:nvPr/>
        </p:nvSpPr>
        <p:spPr>
          <a:xfrm>
            <a:off x="822960" y="4206240"/>
            <a:ext cx="1737360" cy="502920"/>
          </a:xfrm>
          <a:prstGeom prst="rect">
            <a:avLst/>
          </a:prstGeom>
          <a:noFill/>
          <a:ln/>
        </p:spPr>
        <p:txBody>
          <a:bodyPr wrap="square" lIns="0" tIns="0" rIns="0" bIns="0" rtlCol="0" anchor="t"/>
          <a:lstStyle/>
          <a:p>
            <a:pPr marL="0" indent="0" algn="ctr">
              <a:buNone/>
            </a:pPr>
            <a:r>
              <a:rPr lang="en-US" sz="1200" dirty="0">
                <a:solidFill>
                  <a:schemeClr val="bg1"/>
                </a:solidFill>
              </a:rPr>
              <a:t>False negatives (missed)</a:t>
            </a:r>
            <a:endParaRPr lang="en-US" sz="1200" dirty="0"/>
          </a:p>
        </p:txBody>
      </p:sp>
      <p:sp>
        <p:nvSpPr>
          <p:cNvPr id="14" name="Matrix cell 4"/>
          <p:cNvSpPr/>
          <p:nvPr/>
        </p:nvSpPr>
        <p:spPr>
          <a:xfrm>
            <a:off x="2743200" y="3474720"/>
            <a:ext cx="1828800" cy="1280160"/>
          </a:xfrm>
          <a:prstGeom prst="roundRect">
            <a:avLst>
              <a:gd name="adj" fmla="val 7143"/>
            </a:avLst>
          </a:prstGeom>
          <a:solidFill>
            <a:schemeClr val="accent1"/>
          </a:solidFill>
          <a:ln/>
        </p:spPr>
      </p:sp>
      <p:sp>
        <p:nvSpPr>
          <p:cNvPr id="15" name="Text 13"/>
          <p:cNvSpPr txBox="1"/>
          <p:nvPr/>
        </p:nvSpPr>
        <p:spPr>
          <a:xfrm>
            <a:off x="2743200" y="3584448"/>
            <a:ext cx="1828800" cy="59436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94</a:t>
            </a:r>
            <a:endParaRPr lang="en-US" sz="2600" dirty="0"/>
          </a:p>
        </p:txBody>
      </p:sp>
      <p:sp>
        <p:nvSpPr>
          <p:cNvPr id="16" name="Text 14"/>
          <p:cNvSpPr txBox="1"/>
          <p:nvPr/>
        </p:nvSpPr>
        <p:spPr>
          <a:xfrm>
            <a:off x="2788920" y="4206240"/>
            <a:ext cx="1737360" cy="502920"/>
          </a:xfrm>
          <a:prstGeom prst="rect">
            <a:avLst/>
          </a:prstGeom>
          <a:noFill/>
          <a:ln/>
        </p:spPr>
        <p:txBody>
          <a:bodyPr wrap="square" lIns="0" tIns="0" rIns="0" bIns="0" rtlCol="0" anchor="t"/>
          <a:lstStyle/>
          <a:p>
            <a:pPr marL="0" indent="0" algn="ctr">
              <a:buNone/>
            </a:pPr>
            <a:r>
              <a:rPr lang="en-US" sz="1200" dirty="0">
                <a:solidFill>
                  <a:schemeClr val="bg1"/>
                </a:solidFill>
              </a:rPr>
              <a:t>True positives</a:t>
            </a:r>
            <a:endParaRPr lang="en-US" sz="1200" dirty="0"/>
          </a:p>
        </p:txBody>
      </p:sp>
      <p:sp>
        <p:nvSpPr>
          <p:cNvPr id="17" name="Text 15"/>
          <p:cNvSpPr txBox="1"/>
          <p:nvPr/>
        </p:nvSpPr>
        <p:spPr>
          <a:xfrm>
            <a:off x="777240" y="4892040"/>
            <a:ext cx="3840480" cy="640080"/>
          </a:xfrm>
          <a:prstGeom prst="rect">
            <a:avLst/>
          </a:prstGeom>
          <a:noFill/>
          <a:ln/>
        </p:spPr>
        <p:txBody>
          <a:bodyPr wrap="square" lIns="0" tIns="0" rIns="0" bIns="0" rtlCol="0" anchor="t"/>
          <a:lstStyle/>
          <a:p>
            <a:pPr marL="0" indent="0">
              <a:buNone/>
            </a:pPr>
            <a:r>
              <a:rPr lang="en-US" sz="1400" b="1" dirty="0">
                <a:solidFill>
                  <a:schemeClr val="tx2"/>
                </a:solidFill>
              </a:rPr>
              <a:t>Random Forest misses 78 of 172 high-flow observations (recall 54.65%), with precision 72.31%.</a:t>
            </a:r>
            <a:endParaRPr lang="en-US" sz="1400" dirty="0"/>
          </a:p>
        </p:txBody>
      </p:sp>
      <p:sp>
        <p:nvSpPr>
          <p:cNvPr id="18" name="Text 16"/>
          <p:cNvSpPr txBox="1"/>
          <p:nvPr/>
        </p:nvSpPr>
        <p:spPr>
          <a:xfrm>
            <a:off x="777240" y="5577840"/>
            <a:ext cx="3840480" cy="502920"/>
          </a:xfrm>
          <a:prstGeom prst="rect">
            <a:avLst/>
          </a:prstGeom>
          <a:noFill/>
          <a:ln/>
        </p:spPr>
        <p:txBody>
          <a:bodyPr wrap="square" lIns="0" tIns="0" rIns="0" bIns="0" rtlCol="0" anchor="t"/>
          <a:lstStyle/>
          <a:p>
            <a:pPr marL="0" indent="0">
              <a:buNone/>
            </a:pPr>
            <a:r>
              <a:rPr lang="en-US" sz="1400" dirty="0">
                <a:solidFill>
                  <a:schemeClr val="tx1"/>
                </a:solidFill>
              </a:rPr>
              <a:t>Logistic Regression: recall 100%, but 418 false positives.</a:t>
            </a:r>
            <a:endParaRPr lang="en-US" sz="1400" dirty="0"/>
          </a:p>
        </p:txBody>
      </p:sp>
      <p:graphicFrame>
        <p:nvGraphicFramePr>
          <p:cNvPr id="19" name="Chart 0"/>
          <p:cNvGraphicFramePr/>
          <p:nvPr/>
        </p:nvGraphicFramePr>
        <p:xfrm>
          <a:off x="5120640" y="1463040"/>
          <a:ext cx="64922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20" name="Trade-off note"/>
          <p:cNvSpPr/>
          <p:nvPr/>
        </p:nvSpPr>
        <p:spPr>
          <a:xfrm>
            <a:off x="5120640" y="4709160"/>
            <a:ext cx="6492240" cy="1417320"/>
          </a:xfrm>
          <a:prstGeom prst="roundRect">
            <a:avLst>
              <a:gd name="adj" fmla="val 7742"/>
            </a:avLst>
          </a:prstGeom>
          <a:solidFill>
            <a:schemeClr val="bg2"/>
          </a:solidFill>
          <a:ln/>
          <a:effectLst>
            <a:outerShdw blurRad="101600" dist="25400" dir="5400000" algn="bl" rotWithShape="0">
              <a:srgbClr val="000000">
                <a:alpha val="12000"/>
              </a:srgbClr>
            </a:outerShdw>
          </a:effectLst>
        </p:spPr>
      </p:sp>
      <p:sp>
        <p:nvSpPr>
          <p:cNvPr id="21" name="Text 18"/>
          <p:cNvSpPr txBox="1"/>
          <p:nvPr/>
        </p:nvSpPr>
        <p:spPr>
          <a:xfrm>
            <a:off x="5349240" y="4800600"/>
            <a:ext cx="6035040" cy="1234440"/>
          </a:xfrm>
          <a:prstGeom prst="rect">
            <a:avLst/>
          </a:prstGeom>
          <a:noFill/>
          <a:ln/>
        </p:spPr>
        <p:txBody>
          <a:bodyPr wrap="square" lIns="0" tIns="0" rIns="0" bIns="0" rtlCol="0" anchor="ctr"/>
          <a:lstStyle/>
          <a:p>
            <a:pPr marL="0" indent="0">
              <a:buNone/>
            </a:pPr>
            <a:r>
              <a:rPr lang="en-US" sz="1400" dirty="0">
                <a:solidFill>
                  <a:schemeClr val="tx1"/>
                </a:solidFill>
              </a:rPr>
              <a:t>For flood alerts, the choice depends on the trade-off between missed high-flow events and false alarms. Feature importance shows what the model uses, not what causes high flow.</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868680"/>
          </a:xfrm>
          <a:prstGeom prst="rect">
            <a:avLst/>
          </a:prstGeom>
          <a:noFill/>
          <a:ln/>
        </p:spPr>
        <p:txBody>
          <a:bodyPr wrap="square" lIns="0" tIns="0" rIns="0" bIns="0" rtlCol="0" anchor="ctr"/>
          <a:lstStyle/>
          <a:p>
            <a:pPr marL="0" indent="0" algn="l">
              <a:buNone/>
            </a:pPr>
            <a:r>
              <a:rPr lang="en-US" sz="3400" b="1" dirty="0">
                <a:solidFill>
                  <a:schemeClr val="bg1"/>
                </a:solidFill>
              </a:rPr>
              <a:t>Conclusions, limitations and future work</a:t>
            </a:r>
            <a:endParaRPr lang="en-US" sz="3400" dirty="0"/>
          </a:p>
        </p:txBody>
      </p:sp>
      <p:sp>
        <p:nvSpPr>
          <p:cNvPr id="3" name="Text 1"/>
          <p:cNvSpPr txBox="1"/>
          <p:nvPr/>
        </p:nvSpPr>
        <p:spPr>
          <a:xfrm>
            <a:off x="548640" y="1417320"/>
            <a:ext cx="5486400" cy="411480"/>
          </a:xfrm>
          <a:prstGeom prst="rect">
            <a:avLst/>
          </a:prstGeom>
          <a:noFill/>
          <a:ln/>
        </p:spPr>
        <p:txBody>
          <a:bodyPr wrap="square" lIns="0" tIns="0" rIns="0" bIns="0" rtlCol="0" anchor="t"/>
          <a:lstStyle/>
          <a:p>
            <a:pPr marL="0" indent="0">
              <a:buNone/>
            </a:pPr>
            <a:r>
              <a:rPr lang="en-US" sz="2000" b="1" dirty="0">
                <a:solidFill>
                  <a:schemeClr val="accent4"/>
                </a:solidFill>
              </a:rPr>
              <a:t>Key findings</a:t>
            </a:r>
            <a:endParaRPr lang="en-US" sz="2000" dirty="0"/>
          </a:p>
        </p:txBody>
      </p:sp>
      <p:pic>
        <p:nvPicPr>
          <p:cNvPr id="4" name="Finding check 1" descr="preencoded.png"/>
          <p:cNvPicPr>
            <a:picLocks noChangeAspect="1"/>
          </p:cNvPicPr>
          <p:nvPr/>
        </p:nvPicPr>
        <p:blipFill>
          <a:blip r:embed="rId3"/>
          <a:stretch>
            <a:fillRect/>
          </a:stretch>
        </p:blipFill>
        <p:spPr>
          <a:xfrm>
            <a:off x="548640" y="2011680"/>
            <a:ext cx="329184" cy="329184"/>
          </a:xfrm>
          <a:prstGeom prst="rect">
            <a:avLst/>
          </a:prstGeom>
        </p:spPr>
      </p:pic>
      <p:sp>
        <p:nvSpPr>
          <p:cNvPr id="5" name="Text 2"/>
          <p:cNvSpPr txBox="1"/>
          <p:nvPr/>
        </p:nvSpPr>
        <p:spPr>
          <a:xfrm>
            <a:off x="1097280" y="1965960"/>
            <a:ext cx="5029200" cy="960120"/>
          </a:xfrm>
          <a:prstGeom prst="rect">
            <a:avLst/>
          </a:prstGeom>
          <a:noFill/>
          <a:ln/>
        </p:spPr>
        <p:txBody>
          <a:bodyPr wrap="square" lIns="0" tIns="0" rIns="0" bIns="0" rtlCol="0" anchor="t"/>
          <a:lstStyle/>
          <a:p>
            <a:pPr marL="0" indent="0">
              <a:buNone/>
            </a:pPr>
            <a:r>
              <a:rPr lang="en-US" sz="1500" dirty="0">
                <a:solidFill>
                  <a:schemeClr val="bg1"/>
                </a:solidFill>
              </a:rPr>
              <a:t>Discharge was highest from July to September, peaking in August (72.46 m³/s average).</a:t>
            </a:r>
            <a:endParaRPr lang="en-US" sz="1500" dirty="0"/>
          </a:p>
        </p:txBody>
      </p:sp>
      <p:pic>
        <p:nvPicPr>
          <p:cNvPr id="6" name="Finding check 2" descr="preencoded.png"/>
          <p:cNvPicPr>
            <a:picLocks noChangeAspect="1"/>
          </p:cNvPicPr>
          <p:nvPr/>
        </p:nvPicPr>
        <p:blipFill>
          <a:blip r:embed="rId3"/>
          <a:stretch>
            <a:fillRect/>
          </a:stretch>
        </p:blipFill>
        <p:spPr>
          <a:xfrm>
            <a:off x="548640" y="3035808"/>
            <a:ext cx="329184" cy="329184"/>
          </a:xfrm>
          <a:prstGeom prst="rect">
            <a:avLst/>
          </a:prstGeom>
        </p:spPr>
      </p:pic>
      <p:sp>
        <p:nvSpPr>
          <p:cNvPr id="7" name="Text 3"/>
          <p:cNvSpPr txBox="1"/>
          <p:nvPr/>
        </p:nvSpPr>
        <p:spPr>
          <a:xfrm>
            <a:off x="1097280" y="2990088"/>
            <a:ext cx="5029200" cy="960120"/>
          </a:xfrm>
          <a:prstGeom prst="rect">
            <a:avLst/>
          </a:prstGeom>
          <a:noFill/>
          <a:ln/>
        </p:spPr>
        <p:txBody>
          <a:bodyPr wrap="square" lIns="0" tIns="0" rIns="0" bIns="0" rtlCol="0" anchor="t"/>
          <a:lstStyle/>
          <a:p>
            <a:pPr marL="0" indent="0">
              <a:buNone/>
            </a:pPr>
            <a:r>
              <a:rPr lang="en-US" sz="1500" dirty="0">
                <a:solidFill>
                  <a:schemeClr val="bg1"/>
                </a:solidFill>
              </a:rPr>
              <a:t>Linear Regression had the highest R² (0.9038) and lowest RMSE (18.22 m³/s); Random Forest had the lowest MAE (2.88 m³/s).</a:t>
            </a:r>
            <a:endParaRPr lang="en-US" sz="1500" dirty="0"/>
          </a:p>
        </p:txBody>
      </p:sp>
      <p:pic>
        <p:nvPicPr>
          <p:cNvPr id="8" name="Finding check 3" descr="preencoded.png"/>
          <p:cNvPicPr>
            <a:picLocks noChangeAspect="1"/>
          </p:cNvPicPr>
          <p:nvPr/>
        </p:nvPicPr>
        <p:blipFill>
          <a:blip r:embed="rId3"/>
          <a:stretch>
            <a:fillRect/>
          </a:stretch>
        </p:blipFill>
        <p:spPr>
          <a:xfrm>
            <a:off x="548640" y="4059936"/>
            <a:ext cx="329184" cy="329184"/>
          </a:xfrm>
          <a:prstGeom prst="rect">
            <a:avLst/>
          </a:prstGeom>
        </p:spPr>
      </p:pic>
      <p:sp>
        <p:nvSpPr>
          <p:cNvPr id="9" name="Text 4"/>
          <p:cNvSpPr txBox="1"/>
          <p:nvPr/>
        </p:nvSpPr>
        <p:spPr>
          <a:xfrm>
            <a:off x="1097280" y="4014216"/>
            <a:ext cx="5029200" cy="960120"/>
          </a:xfrm>
          <a:prstGeom prst="rect">
            <a:avLst/>
          </a:prstGeom>
          <a:noFill/>
          <a:ln/>
        </p:spPr>
        <p:txBody>
          <a:bodyPr wrap="square" lIns="0" tIns="0" rIns="0" bIns="0" rtlCol="0" anchor="t"/>
          <a:lstStyle/>
          <a:p>
            <a:pPr marL="0" indent="0">
              <a:buNone/>
            </a:pPr>
            <a:r>
              <a:rPr lang="en-US" sz="1500" dirty="0">
                <a:solidFill>
                  <a:schemeClr val="bg1"/>
                </a:solidFill>
              </a:rPr>
              <a:t>Feature engineering improved Linear Regression (RMSE 19.30 to 18.22 m³/s).</a:t>
            </a:r>
            <a:endParaRPr lang="en-US" sz="1500" dirty="0"/>
          </a:p>
        </p:txBody>
      </p:sp>
      <p:pic>
        <p:nvPicPr>
          <p:cNvPr id="10" name="Finding check 4" descr="preencoded.png"/>
          <p:cNvPicPr>
            <a:picLocks noChangeAspect="1"/>
          </p:cNvPicPr>
          <p:nvPr/>
        </p:nvPicPr>
        <p:blipFill>
          <a:blip r:embed="rId3"/>
          <a:stretch>
            <a:fillRect/>
          </a:stretch>
        </p:blipFill>
        <p:spPr>
          <a:xfrm>
            <a:off x="548640" y="5084064"/>
            <a:ext cx="329184" cy="329184"/>
          </a:xfrm>
          <a:prstGeom prst="rect">
            <a:avLst/>
          </a:prstGeom>
        </p:spPr>
      </p:pic>
      <p:sp>
        <p:nvSpPr>
          <p:cNvPr id="11" name="Text 5"/>
          <p:cNvSpPr txBox="1"/>
          <p:nvPr/>
        </p:nvSpPr>
        <p:spPr>
          <a:xfrm>
            <a:off x="1097280" y="5038344"/>
            <a:ext cx="5029200" cy="960120"/>
          </a:xfrm>
          <a:prstGeom prst="rect">
            <a:avLst/>
          </a:prstGeom>
          <a:noFill/>
          <a:ln/>
        </p:spPr>
        <p:txBody>
          <a:bodyPr wrap="square" lIns="0" tIns="0" rIns="0" bIns="0" rtlCol="0" anchor="t"/>
          <a:lstStyle/>
          <a:p>
            <a:pPr marL="0" indent="0">
              <a:buNone/>
            </a:pPr>
            <a:r>
              <a:rPr lang="en-US" sz="1500" dirty="0">
                <a:solidFill>
                  <a:schemeClr val="bg1"/>
                </a:solidFill>
              </a:rPr>
              <a:t>Random Forest classification: 95.75% accuracy, 72.31% precision, 54.65% recall. Logistic Regression: 100% recall.</a:t>
            </a:r>
            <a:endParaRPr lang="en-US" sz="1500" dirty="0"/>
          </a:p>
        </p:txBody>
      </p:sp>
      <p:sp>
        <p:nvSpPr>
          <p:cNvPr id="12" name="Limits panel"/>
          <p:cNvSpPr/>
          <p:nvPr/>
        </p:nvSpPr>
        <p:spPr>
          <a:xfrm>
            <a:off x="6583680" y="1417320"/>
            <a:ext cx="5029200" cy="4754880"/>
          </a:xfrm>
          <a:prstGeom prst="roundRect">
            <a:avLst>
              <a:gd name="adj" fmla="val 2308"/>
            </a:avLst>
          </a:prstGeom>
          <a:solidFill>
            <a:schemeClr val="accent1"/>
          </a:solidFill>
          <a:ln/>
        </p:spPr>
      </p:sp>
      <p:sp>
        <p:nvSpPr>
          <p:cNvPr id="13" name="Text 7"/>
          <p:cNvSpPr txBox="1"/>
          <p:nvPr/>
        </p:nvSpPr>
        <p:spPr>
          <a:xfrm>
            <a:off x="6858000" y="1554480"/>
            <a:ext cx="4572000" cy="365760"/>
          </a:xfrm>
          <a:prstGeom prst="rect">
            <a:avLst/>
          </a:prstGeom>
          <a:noFill/>
          <a:ln/>
        </p:spPr>
        <p:txBody>
          <a:bodyPr wrap="square" lIns="0" tIns="0" rIns="0" bIns="0" rtlCol="0" anchor="t"/>
          <a:lstStyle/>
          <a:p>
            <a:pPr marL="0" indent="0">
              <a:buNone/>
            </a:pPr>
            <a:r>
              <a:rPr lang="en-US" sz="1800" b="1" dirty="0">
                <a:solidFill>
                  <a:schemeClr val="accent4"/>
                </a:solidFill>
              </a:rPr>
              <a:t>Limitations</a:t>
            </a:r>
            <a:endParaRPr lang="en-US" sz="1800" dirty="0"/>
          </a:p>
        </p:txBody>
      </p:sp>
      <p:sp>
        <p:nvSpPr>
          <p:cNvPr id="14" name="Text 8"/>
          <p:cNvSpPr txBox="1"/>
          <p:nvPr/>
        </p:nvSpPr>
        <p:spPr>
          <a:xfrm>
            <a:off x="6858000" y="1965960"/>
            <a:ext cx="4572000" cy="2423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Extreme flows are hard to predict, especially at Station 375</a:t>
            </a:r>
            <a:endParaRPr lang="en-US" sz="1400" dirty="0"/>
          </a:p>
          <a:p>
            <a:pPr marL="342900" indent="-342900">
              <a:spcAft>
                <a:spcPts val="300"/>
              </a:spcAft>
              <a:buSzPct val="100000"/>
              <a:buChar char="•"/>
            </a:pPr>
            <a:r>
              <a:rPr lang="en-US" sz="1400" dirty="0">
                <a:solidFill>
                  <a:schemeClr val="bg1"/>
                </a:solidFill>
              </a:rPr>
              <a:t>Linear Regression gave some negative discharge values</a:t>
            </a:r>
            <a:endParaRPr lang="en-US" sz="1400" dirty="0"/>
          </a:p>
          <a:p>
            <a:pPr marL="342900" indent="-342900">
              <a:spcAft>
                <a:spcPts val="300"/>
              </a:spcAft>
              <a:buSzPct val="100000"/>
              <a:buChar char="•"/>
            </a:pPr>
            <a:r>
              <a:rPr lang="en-US" sz="1400" dirty="0">
                <a:solidFill>
                  <a:schemeClr val="bg1"/>
                </a:solidFill>
              </a:rPr>
              <a:t>Missing values, including the target, were filled with the mean</a:t>
            </a:r>
            <a:endParaRPr lang="en-US" sz="1400" dirty="0"/>
          </a:p>
          <a:p>
            <a:pPr marL="342900" indent="-342900">
              <a:spcAft>
                <a:spcPts val="300"/>
              </a:spcAft>
              <a:buSzPct val="100000"/>
              <a:buChar char="•"/>
            </a:pPr>
            <a:r>
              <a:rPr lang="en-US" sz="1400" dirty="0">
                <a:solidFill>
                  <a:schemeClr val="bg1"/>
                </a:solidFill>
              </a:rPr>
              <a:t>Random Forest missed 78 of 172 high-flow observations</a:t>
            </a:r>
            <a:endParaRPr lang="en-US" sz="1400" dirty="0"/>
          </a:p>
          <a:p>
            <a:pPr marL="342900" indent="-342900">
              <a:spcAft>
                <a:spcPts val="300"/>
              </a:spcAft>
              <a:buSzPct val="100000"/>
              <a:buChar char="•"/>
            </a:pPr>
            <a:r>
              <a:rPr lang="en-US" sz="1400" dirty="0">
                <a:solidFill>
                  <a:schemeClr val="bg1"/>
                </a:solidFill>
              </a:rPr>
              <a:t>Classification is same-day, not a next-day forecast</a:t>
            </a:r>
            <a:endParaRPr lang="en-US" sz="1400" dirty="0"/>
          </a:p>
          <a:p>
            <a:pPr marL="342900" indent="-342900">
              <a:spcAft>
                <a:spcPts val="300"/>
              </a:spcAft>
              <a:buSzPct val="100000"/>
              <a:buChar char="•"/>
            </a:pPr>
            <a:r>
              <a:rPr lang="en-US" sz="1400" dirty="0">
                <a:solidFill>
                  <a:schemeClr val="bg1"/>
                </a:solidFill>
              </a:rPr>
              <a:t>One chronological split; new stations not tested</a:t>
            </a:r>
            <a:endParaRPr lang="en-US" sz="1400" dirty="0"/>
          </a:p>
        </p:txBody>
      </p:sp>
      <p:sp>
        <p:nvSpPr>
          <p:cNvPr id="15" name="Text 9"/>
          <p:cNvSpPr txBox="1"/>
          <p:nvPr/>
        </p:nvSpPr>
        <p:spPr>
          <a:xfrm>
            <a:off x="6858000" y="4480560"/>
            <a:ext cx="4572000" cy="365760"/>
          </a:xfrm>
          <a:prstGeom prst="rect">
            <a:avLst/>
          </a:prstGeom>
          <a:noFill/>
          <a:ln/>
        </p:spPr>
        <p:txBody>
          <a:bodyPr wrap="square" lIns="0" tIns="0" rIns="0" bIns="0" rtlCol="0" anchor="t"/>
          <a:lstStyle/>
          <a:p>
            <a:pPr marL="0" indent="0">
              <a:buNone/>
            </a:pPr>
            <a:r>
              <a:rPr lang="en-US" sz="1800" b="1" dirty="0">
                <a:solidFill>
                  <a:schemeClr val="accent4"/>
                </a:solidFill>
              </a:rPr>
              <a:t>Possible future improvements (not done here)</a:t>
            </a:r>
            <a:endParaRPr lang="en-US" sz="1800" dirty="0"/>
          </a:p>
        </p:txBody>
      </p:sp>
      <p:sp>
        <p:nvSpPr>
          <p:cNvPr id="16" name="Text 10"/>
          <p:cNvSpPr txBox="1"/>
          <p:nvPr/>
        </p:nvSpPr>
        <p:spPr>
          <a:xfrm>
            <a:off x="6858000" y="4892040"/>
            <a:ext cx="4572000" cy="118872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Non-negative discharge predictions</a:t>
            </a:r>
            <a:endParaRPr lang="en-US" sz="1400" dirty="0"/>
          </a:p>
          <a:p>
            <a:pPr marL="342900" indent="-342900">
              <a:spcAft>
                <a:spcPts val="200"/>
              </a:spcAft>
              <a:buSzPct val="100000"/>
              <a:buChar char="•"/>
            </a:pPr>
            <a:r>
              <a:rPr lang="en-US" sz="1400" dirty="0">
                <a:solidFill>
                  <a:schemeClr val="bg1"/>
                </a:solidFill>
              </a:rPr>
              <a:t>Dam and upstream data</a:t>
            </a:r>
            <a:endParaRPr lang="en-US" sz="1400" dirty="0"/>
          </a:p>
          <a:p>
            <a:pPr marL="342900" indent="-342900">
              <a:spcAft>
                <a:spcPts val="200"/>
              </a:spcAft>
              <a:buSzPct val="100000"/>
              <a:buChar char="•"/>
            </a:pPr>
            <a:r>
              <a:rPr lang="en-US" sz="1400" dirty="0">
                <a:solidFill>
                  <a:schemeClr val="bg1"/>
                </a:solidFill>
              </a:rPr>
              <a:t>Better handling of missing values</a:t>
            </a:r>
            <a:endParaRPr lang="en-US" sz="1400" dirty="0"/>
          </a:p>
          <a:p>
            <a:pPr marL="342900" indent="-342900">
              <a:spcAft>
                <a:spcPts val="200"/>
              </a:spcAft>
              <a:buSzPct val="100000"/>
              <a:buChar char="•"/>
            </a:pPr>
            <a:r>
              <a:rPr lang="en-US" sz="1400" dirty="0">
                <a:solidFill>
                  <a:schemeClr val="bg1"/>
                </a:solidFill>
              </a:rPr>
              <a:t>Next-day high-flow classification</a:t>
            </a:r>
            <a:endParaRPr lang="en-US" sz="1400" dirty="0"/>
          </a:p>
        </p:txBody>
      </p:sp>
      <p:sp>
        <p:nvSpPr>
          <p:cNvPr id="25" name="Slide Number Placeholder 0"/>
          <p:cNvSpPr>
            <a:spLocks noGrp="1"/>
          </p:cNvSpPr>
          <p:nvPr>
            <p:ph type="sldNum" sz="quarter" idx="4294967295"/>
          </p:nvPr>
        </p:nvSpPr>
        <p:spPr>
          <a:xfrm>
            <a:off x="1097280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Nepal Flood">
  <a:themeElements>
    <a:clrScheme name="Nepal Flood">
      <a:dk1>
        <a:srgbClr val="13233A"/>
      </a:dk1>
      <a:lt1>
        <a:srgbClr val="FFFFFF"/>
      </a:lt1>
      <a:dk2>
        <a:srgbClr val="0A2540"/>
      </a:dk2>
      <a:lt2>
        <a:srgbClr val="EAF3F7"/>
      </a:lt2>
      <a:accent1>
        <a:srgbClr val="0E7C86"/>
      </a:accent1>
      <a:accent2>
        <a:srgbClr val="2E86C1"/>
      </a:accent2>
      <a:accent3>
        <a:srgbClr val="1B4F8A"/>
      </a:accent3>
      <a:accent4>
        <a:srgbClr val="7FD1D6"/>
      </a:accent4>
      <a:accent5>
        <a:srgbClr val="7A8CA0"/>
      </a:accent5>
      <a:accent6>
        <a:srgbClr val="D1495B"/>
      </a:accent6>
      <a:hlink>
        <a:srgbClr val="0E7C86"/>
      </a:hlink>
      <a:folHlink>
        <a:srgbClr val="5B6B7B"/>
      </a:folHlink>
    </a:clrScheme>
    <a:fontScheme name="Nepal Floo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2062</Words>
  <Application>Microsoft Office PowerPoint</Application>
  <PresentationFormat>Widescreen</PresentationFormat>
  <Paragraphs>224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Nepal Flood</vt:lpstr>
      <vt:lpstr>Nepal Flood &amp; Weather Analysis</vt:lpstr>
      <vt:lpstr>Project introduction</vt:lpstr>
      <vt:lpstr>Dataset and preprocessing</vt:lpstr>
      <vt:lpstr>River discharge is right-skewed</vt:lpstr>
      <vt:lpstr>Discharge differs strongly by station</vt:lpstr>
      <vt:lpstr>Highest discharge in July to September</vt:lpstr>
      <vt:lpstr>Same-day weather correlations are weak</vt:lpstr>
      <vt:lpstr>Feature engineering</vt:lpstr>
      <vt:lpstr>Chronological train-test split</vt:lpstr>
      <vt:lpstr>Regression model comparison</vt:lpstr>
      <vt:lpstr>Prediction errors and station-wise performance</vt:lpstr>
      <vt:lpstr>Regression: important predictive features</vt:lpstr>
      <vt:lpstr>Classification of high-flow observations</vt:lpstr>
      <vt:lpstr>Classification performance and features</vt:lpstr>
      <vt:lpstr>Conclusions, limitations and future 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Nepal Flood &amp; Weather Analysis</dc:title>
  <dc:subject>PptxGenJS Presentation</dc:subject>
  <dc:creator>Anseena A S</dc:creator>
  <cp:lastModifiedBy>ANSEENA A S</cp:lastModifiedBy>
  <cp:revision>2</cp:revision>
  <dcterms:created xsi:type="dcterms:W3CDTF">2026-10-22T11:16:34Z</dcterms:created>
  <dcterms:modified xsi:type="dcterms:W3CDTF">2026-10-22T11:43:20Z</dcterms:modified>
</cp:coreProperties>
</file>